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96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C9A96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9A961"/>
                </a:solidFill>
                <a:latin typeface="Segoe UI"/>
              </a:rPr>
              <a:t>INTERNAL —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Segoe UI"/>
              </a:rPr>
              <a:t>BPB Solutions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9A961"/>
                </a:solidFill>
                <a:latin typeface="Segoe UI"/>
              </a:rPr>
              <a:t>Internal Governance Architecture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4436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9AA"/>
                </a:solidFill>
                <a:latin typeface="Segoe UI"/>
              </a:rPr>
              <a:t>Comprehensive Analysis  ·  Last 60 Days  ·  CANONICAL_v1.0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749039"/>
            <a:ext cx="1828800" cy="685800"/>
          </a:xfrm>
          <a:prstGeom prst="rect">
            <a:avLst/>
          </a:prstGeom>
          <a:solidFill>
            <a:srgbClr val="2A2A3E"/>
          </a:solidFill>
          <a:ln w="635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379475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8899AA"/>
                </a:solidFill>
                <a:latin typeface="Segoe UI"/>
              </a:rPr>
              <a:t>REPORT 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41647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2026-03-08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3749039"/>
            <a:ext cx="1828800" cy="685800"/>
          </a:xfrm>
          <a:prstGeom prst="rect">
            <a:avLst/>
          </a:prstGeom>
          <a:solidFill>
            <a:srgbClr val="2A2A3E"/>
          </a:solidFill>
          <a:ln w="635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51760" y="379475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8899AA"/>
                </a:solidFill>
                <a:latin typeface="Segoe UI"/>
              </a:rPr>
              <a:t>AUTHORITY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4041647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Alaa Atia (AA)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3749039"/>
            <a:ext cx="1828800" cy="685800"/>
          </a:xfrm>
          <a:prstGeom prst="rect">
            <a:avLst/>
          </a:prstGeom>
          <a:solidFill>
            <a:srgbClr val="2A2A3E"/>
          </a:solidFill>
          <a:ln w="635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63440" y="379475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8899AA"/>
                </a:solidFill>
                <a:latin typeface="Segoe UI"/>
              </a:rPr>
              <a:t>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041647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CANONICAL_v1.0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71999"/>
            <a:ext cx="1828800" cy="685800"/>
          </a:xfrm>
          <a:prstGeom prst="rect">
            <a:avLst/>
          </a:prstGeom>
          <a:solidFill>
            <a:srgbClr val="2A2A3E"/>
          </a:solidFill>
          <a:ln w="635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61771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8899AA"/>
                </a:solidFill>
                <a:latin typeface="Segoe UI"/>
              </a:rPr>
              <a:t>CLASSIFICATION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64607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INTERNAL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4571999"/>
            <a:ext cx="1828800" cy="685800"/>
          </a:xfrm>
          <a:prstGeom prst="rect">
            <a:avLst/>
          </a:prstGeom>
          <a:solidFill>
            <a:srgbClr val="2A2A3E"/>
          </a:solidFill>
          <a:ln w="635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51760" y="461771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8899AA"/>
                </a:solidFill>
                <a:latin typeface="Segoe UI"/>
              </a:rPr>
              <a:t>ANALYSIS PERIOD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864607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Last 60 Days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4571999"/>
            <a:ext cx="1828800" cy="685800"/>
          </a:xfrm>
          <a:prstGeom prst="rect">
            <a:avLst/>
          </a:prstGeom>
          <a:solidFill>
            <a:srgbClr val="2A2A3E"/>
          </a:solidFill>
          <a:ln w="635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461771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8899AA"/>
                </a:solidFill>
                <a:latin typeface="Segoe UI"/>
              </a:rPr>
              <a:t>SYSTEMS COVERED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864607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PMS · AlCatara · BIG G · CARSHUNTER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1A2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4320" y="6528816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9A961"/>
                </a:solidFill>
                <a:latin typeface="Segoe UI"/>
              </a:rPr>
              <a:t>BPB Solutions LTD  ·  Internal Governance Architecture Report  ·  CANONICAL_v1.0  ·  8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C9A96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961"/>
                </a:solidFill>
                <a:latin typeface="Segoe U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Governance Architecture Milestone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502920" cy="41148"/>
          </a:xfrm>
          <a:prstGeom prst="rect">
            <a:avLst/>
          </a:prstGeom>
          <a:solidFill>
            <a:srgbClr val="C9A96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9AA"/>
                </a:solidFill>
                <a:latin typeface="Segoe UI"/>
              </a:rPr>
              <a:t>BPB Solutions LTD has achieved a governance architecture milestone that positions the organization at the intersection of institutional-grade decision systems and market-facing operational platforms.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95728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9AA"/>
                </a:solidFill>
                <a:latin typeface="Segoe UI"/>
              </a:rPr>
              <a:t>This report documents governance models, architectural innovations, and strategic positioning developed across four interconnected systems: PMS_GOVERN, AlCatara Decision Logic, THE BIG G Doctrine, and CARSHUNTER Platform.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28416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KEY FINDING: BPB has transitioned from authority creation to authority maintenance — a critical phase shift indicating governance maturity and operational readiness.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480560"/>
            <a:ext cx="1828800" cy="347472"/>
          </a:xfrm>
          <a:prstGeom prst="rect">
            <a:avLst/>
          </a:prstGeom>
          <a:solidFill>
            <a:srgbClr val="27AE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449884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GOVERNANCE MATURE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4600" y="4480560"/>
            <a:ext cx="1828800" cy="347472"/>
          </a:xfrm>
          <a:prstGeom prst="rect">
            <a:avLst/>
          </a:prstGeom>
          <a:solidFill>
            <a:srgbClr val="3498D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87752" y="449884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OPERATIONALLY READY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4480560"/>
            <a:ext cx="1828800" cy="347472"/>
          </a:xfrm>
          <a:prstGeom prst="rect">
            <a:avLst/>
          </a:prstGeom>
          <a:solidFill>
            <a:srgbClr val="C9A96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712" y="449884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A1A2E"/>
                </a:solidFill>
                <a:latin typeface="Segoe UI"/>
              </a:rPr>
              <a:t>AUTHORITY MAINTENANCE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1A2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" y="6528816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9A961"/>
                </a:solidFill>
                <a:latin typeface="Segoe UI"/>
              </a:rPr>
              <a:t>BPB Solutions LTD  ·  Internal Governance Architecture Report  ·  CANONICAL_v1.0  ·  8 March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C9A96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961"/>
                </a:solidFill>
                <a:latin typeface="Segoe UI"/>
              </a:rPr>
              <a:t>PART 1 · GOVERNANCE ARCHITECTURE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The Four-Layer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502920" cy="41148"/>
          </a:xfrm>
          <a:prstGeom prst="rect">
            <a:avLst/>
          </a:prstGeom>
          <a:solidFill>
            <a:srgbClr val="C9A96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0" y="1508760"/>
            <a:ext cx="8531352" cy="658368"/>
          </a:xfrm>
          <a:prstGeom prst="rect">
            <a:avLst/>
          </a:prstGeom>
          <a:solidFill>
            <a:srgbClr val="2A1A3E"/>
          </a:solidFill>
          <a:ln w="9525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20240" y="164592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9A961"/>
                </a:solidFill>
                <a:latin typeface="Segoe UI"/>
              </a:rPr>
              <a:t>THE BIG G / G CONCEPT — Governance Doctrine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1671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9A961"/>
                </a:solidFill>
                <a:latin typeface="Segoe UI"/>
              </a:rPr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441448"/>
            <a:ext cx="8531352" cy="658368"/>
          </a:xfrm>
          <a:prstGeom prst="rect">
            <a:avLst/>
          </a:prstGeom>
          <a:solidFill>
            <a:srgbClr val="3A2A10"/>
          </a:solidFill>
          <a:ln w="9525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20240" y="2578608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9A961"/>
                </a:solidFill>
                <a:latin typeface="Segoe UI"/>
              </a:rPr>
              <a:t>AlCatara — Decision Logic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3099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9A961"/>
                </a:solidFill>
                <a:latin typeface="Segoe UI"/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3374136"/>
            <a:ext cx="8531352" cy="658368"/>
          </a:xfrm>
          <a:prstGeom prst="rect">
            <a:avLst/>
          </a:prstGeom>
          <a:solidFill>
            <a:srgbClr val="2A2A3E"/>
          </a:solidFill>
          <a:ln w="9525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20240" y="3511296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PMS_GOVERN — Execution Governance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03250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9A961"/>
                </a:solidFill>
                <a:latin typeface="Segoe UI"/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4306824"/>
            <a:ext cx="8531352" cy="658368"/>
          </a:xfrm>
          <a:prstGeom prst="rect">
            <a:avLst/>
          </a:prstGeom>
          <a:solidFill>
            <a:srgbClr val="202035"/>
          </a:solidFill>
          <a:ln w="9525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20240" y="4443984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899AA"/>
                </a:solidFill>
                <a:latin typeface="Segoe UI"/>
              </a:rPr>
              <a:t>Immutable Ledger — Institutional 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76072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99AA"/>
                </a:solidFill>
                <a:latin typeface="Segoe UI"/>
              </a:rPr>
              <a:t>Governance before organization.  Authority before role.  Evidence before action.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1A2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" y="6528816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9A961"/>
                </a:solidFill>
                <a:latin typeface="Segoe UI"/>
              </a:rPr>
              <a:t>BPB Solutions LTD  ·  Internal Governance Architecture Report  ·  CANONICAL_v1.0  ·  8 March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C9A96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961"/>
                </a:solidFill>
                <a:latin typeface="Segoe UI"/>
              </a:rPr>
              <a:t>LAYER 1 · THE BIG 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📐  Governance Doctrine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502920" cy="41148"/>
          </a:xfrm>
          <a:prstGeom prst="rect">
            <a:avLst/>
          </a:prstGeom>
          <a:solidFill>
            <a:srgbClr val="C9A96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5303520" cy="1188720"/>
          </a:xfrm>
          <a:prstGeom prst="rect">
            <a:avLst/>
          </a:prstGeom>
          <a:solidFill>
            <a:srgbClr val="2A2A3E"/>
          </a:solidFill>
          <a:ln w="635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9A961"/>
                </a:solidFill>
                <a:latin typeface="Segoe UI"/>
              </a:rPr>
              <a:t>Authority &gt; 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9AA"/>
                </a:solidFill>
                <a:latin typeface="Segoe UI"/>
              </a:rPr>
              <a:t>Authority-first governance — authority determines permission, not vice versa.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303520" cy="1188720"/>
          </a:xfrm>
          <a:prstGeom prst="rect">
            <a:avLst/>
          </a:prstGeom>
          <a:solidFill>
            <a:srgbClr val="2A2A3E"/>
          </a:solidFill>
          <a:ln w="635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6002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9A961"/>
                </a:solidFill>
                <a:latin typeface="Segoe UI"/>
              </a:rPr>
              <a:t>Governance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9659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9AA"/>
                </a:solidFill>
                <a:latin typeface="Segoe UI"/>
              </a:rPr>
              <a:t>Governance infrastructure built before full organizational structure.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80360"/>
            <a:ext cx="5303520" cy="1188720"/>
          </a:xfrm>
          <a:prstGeom prst="rect">
            <a:avLst/>
          </a:prstGeom>
          <a:solidFill>
            <a:srgbClr val="2A2A3E"/>
          </a:solidFill>
          <a:ln w="635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9718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9A961"/>
                </a:solidFill>
                <a:latin typeface="Segoe UI"/>
              </a:rPr>
              <a:t>Explicit Commands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375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9AA"/>
                </a:solidFill>
                <a:latin typeface="Segoe UI"/>
              </a:rPr>
              <a:t>All actions are structured commands with identity verification.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880360"/>
            <a:ext cx="5303520" cy="1188720"/>
          </a:xfrm>
          <a:prstGeom prst="rect">
            <a:avLst/>
          </a:prstGeom>
          <a:solidFill>
            <a:srgbClr val="2A2A3E"/>
          </a:solidFill>
          <a:ln w="635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9718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9A961"/>
                </a:solidFill>
                <a:latin typeface="Segoe UI"/>
              </a:rPr>
              <a:t>Domain Separation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3375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9AA"/>
                </a:solidFill>
                <a:latin typeface="Segoe UI"/>
              </a:rPr>
              <a:t>Strict separation prevents cross-domain authority leakage.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343400"/>
            <a:ext cx="11183112" cy="868680"/>
          </a:xfrm>
          <a:prstGeom prst="rect">
            <a:avLst/>
          </a:prstGeom>
          <a:solidFill>
            <a:srgbClr val="181408"/>
          </a:solidFill>
          <a:ln w="1905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407408"/>
            <a:ext cx="1081735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Strategic Observation: Most organizations build governance reactively. BPB designed governance infrastructure first — positioning it as a platform layer, not an afterthought.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1A2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" y="6528816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9A961"/>
                </a:solidFill>
                <a:latin typeface="Segoe UI"/>
              </a:rPr>
              <a:t>BPB Solutions LTD  ·  Internal Governance Architecture Report  ·  CANONICAL_v1.0  ·  8 March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C9A96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961"/>
                </a:solidFill>
                <a:latin typeface="Segoe UI"/>
              </a:rPr>
              <a:t>LAYER 2 · ALCATARA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⚡  AlCatara Decision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502920" cy="41148"/>
          </a:xfrm>
          <a:prstGeom prst="rect">
            <a:avLst/>
          </a:prstGeom>
          <a:solidFill>
            <a:srgbClr val="C9A96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9AA"/>
                </a:solidFill>
                <a:latin typeface="Segoe UI"/>
              </a:rPr>
              <a:t>Translates governance doctrine into executable decision structure. Innovation: complexity-aware decision scaling — authority requirements adapt dynamically to risk level.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2560320" cy="475488"/>
          </a:xfrm>
          <a:prstGeom prst="rect">
            <a:avLst/>
          </a:prstGeom>
          <a:solidFill>
            <a:srgbClr val="201808"/>
          </a:solidFill>
          <a:ln w="1270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961"/>
                </a:solidFill>
                <a:latin typeface="Segoe UI"/>
              </a:rPr>
              <a:t>Component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2103120"/>
            <a:ext cx="3474720" cy="475488"/>
          </a:xfrm>
          <a:prstGeom prst="rect">
            <a:avLst/>
          </a:prstGeom>
          <a:solidFill>
            <a:srgbClr val="201808"/>
          </a:solidFill>
          <a:ln w="1270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54680" y="21945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961"/>
                </a:solidFill>
                <a:latin typeface="Segoe UI"/>
              </a:rPr>
              <a:t>Description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2103120"/>
            <a:ext cx="4937760" cy="475488"/>
          </a:xfrm>
          <a:prstGeom prst="rect">
            <a:avLst/>
          </a:prstGeom>
          <a:solidFill>
            <a:srgbClr val="201808"/>
          </a:solidFill>
          <a:ln w="1270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219456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961"/>
                </a:solidFill>
                <a:latin typeface="Segoe UI"/>
              </a:rPr>
              <a:t>PMS Implementation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578608"/>
            <a:ext cx="2560320" cy="475488"/>
          </a:xfrm>
          <a:prstGeom prst="rect">
            <a:avLst/>
          </a:prstGeom>
          <a:solidFill>
            <a:srgbClr val="1616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6700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A961"/>
                </a:solidFill>
                <a:latin typeface="Segoe UI"/>
              </a:rPr>
              <a:t>Energy (E)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63240" y="2578608"/>
            <a:ext cx="3474720" cy="475488"/>
          </a:xfrm>
          <a:prstGeom prst="rect">
            <a:avLst/>
          </a:prstGeom>
          <a:solidFill>
            <a:srgbClr val="1616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54680" y="267004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9AA"/>
                </a:solidFill>
                <a:latin typeface="Segoe UI"/>
              </a:rPr>
              <a:t>Decision intent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2578608"/>
            <a:ext cx="4937760" cy="475488"/>
          </a:xfrm>
          <a:prstGeom prst="rect">
            <a:avLst/>
          </a:prstGeom>
          <a:solidFill>
            <a:srgbClr val="1616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267004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9AA"/>
                </a:solidFill>
                <a:latin typeface="Segoe UI"/>
              </a:rPr>
              <a:t>Command intent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054096"/>
            <a:ext cx="2560320" cy="475488"/>
          </a:xfrm>
          <a:prstGeom prst="rect">
            <a:avLst/>
          </a:prstGeom>
          <a:solidFill>
            <a:srgbClr val="1C1C30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314553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A961"/>
                </a:solidFill>
                <a:latin typeface="Segoe UI"/>
              </a:rPr>
              <a:t>State (C)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63240" y="3054096"/>
            <a:ext cx="3474720" cy="475488"/>
          </a:xfrm>
          <a:prstGeom prst="rect">
            <a:avLst/>
          </a:prstGeom>
          <a:solidFill>
            <a:srgbClr val="1C1C30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54680" y="314553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9AA"/>
                </a:solidFill>
                <a:latin typeface="Segoe UI"/>
              </a:rPr>
              <a:t>Context and conditions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3054096"/>
            <a:ext cx="4937760" cy="475488"/>
          </a:xfrm>
          <a:prstGeom prst="rect">
            <a:avLst/>
          </a:prstGeom>
          <a:solidFill>
            <a:srgbClr val="1C1C30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314553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9AA"/>
                </a:solidFill>
                <a:latin typeface="Segoe UI"/>
              </a:rPr>
              <a:t>System state / payload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529584"/>
            <a:ext cx="2560320" cy="475488"/>
          </a:xfrm>
          <a:prstGeom prst="rect">
            <a:avLst/>
          </a:prstGeom>
          <a:solidFill>
            <a:srgbClr val="1616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362102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A961"/>
                </a:solidFill>
                <a:latin typeface="Segoe UI"/>
              </a:rPr>
              <a:t>Governance (G)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63240" y="3529584"/>
            <a:ext cx="3474720" cy="475488"/>
          </a:xfrm>
          <a:prstGeom prst="rect">
            <a:avLst/>
          </a:prstGeom>
          <a:solidFill>
            <a:srgbClr val="1616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154680" y="362102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9AA"/>
                </a:solidFill>
                <a:latin typeface="Segoe UI"/>
              </a:rPr>
              <a:t>Authority validation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37960" y="3529584"/>
            <a:ext cx="4937760" cy="475488"/>
          </a:xfrm>
          <a:prstGeom prst="rect">
            <a:avLst/>
          </a:prstGeom>
          <a:solidFill>
            <a:srgbClr val="1616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29400" y="362102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9AA"/>
                </a:solidFill>
                <a:latin typeface="Segoe UI"/>
              </a:rPr>
              <a:t>QGED gate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005072"/>
            <a:ext cx="2560320" cy="475488"/>
          </a:xfrm>
          <a:prstGeom prst="rect">
            <a:avLst/>
          </a:prstGeom>
          <a:solidFill>
            <a:srgbClr val="1C1C30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4360" y="409651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A961"/>
                </a:solidFill>
                <a:latin typeface="Segoe UI"/>
              </a:rPr>
              <a:t>Law / Policy (M)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63240" y="4005072"/>
            <a:ext cx="3474720" cy="475488"/>
          </a:xfrm>
          <a:prstGeom prst="rect">
            <a:avLst/>
          </a:prstGeom>
          <a:solidFill>
            <a:srgbClr val="1C1C30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154680" y="40965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9AA"/>
                </a:solidFill>
                <a:latin typeface="Segoe UI"/>
              </a:rPr>
              <a:t>Rules enforcement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37960" y="4005072"/>
            <a:ext cx="4937760" cy="475488"/>
          </a:xfrm>
          <a:prstGeom prst="rect">
            <a:avLst/>
          </a:prstGeom>
          <a:solidFill>
            <a:srgbClr val="1C1C30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29400" y="40965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9AA"/>
                </a:solidFill>
                <a:latin typeface="Segoe UI"/>
              </a:rPr>
              <a:t>Signing policy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480560"/>
            <a:ext cx="2560320" cy="475488"/>
          </a:xfrm>
          <a:prstGeom prst="rect">
            <a:avLst/>
          </a:prstGeom>
          <a:solidFill>
            <a:srgbClr val="1616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4360" y="4572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A961"/>
                </a:solidFill>
                <a:latin typeface="Segoe UI"/>
              </a:rPr>
              <a:t>Output (S0–S5)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63240" y="4480560"/>
            <a:ext cx="3474720" cy="475488"/>
          </a:xfrm>
          <a:prstGeom prst="rect">
            <a:avLst/>
          </a:prstGeom>
          <a:solidFill>
            <a:srgbClr val="1616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154680" y="4572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9AA"/>
                </a:solidFill>
                <a:latin typeface="Segoe UI"/>
              </a:rPr>
              <a:t>Decision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37960" y="4480560"/>
            <a:ext cx="4937760" cy="475488"/>
          </a:xfrm>
          <a:prstGeom prst="rect">
            <a:avLst/>
          </a:prstGeom>
          <a:solidFill>
            <a:srgbClr val="1616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29400" y="4572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9AA"/>
                </a:solidFill>
                <a:latin typeface="Segoe UI"/>
              </a:rPr>
              <a:t>ALLOW / BLOCK / HOLD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1A2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74320" y="6528816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9A961"/>
                </a:solidFill>
                <a:latin typeface="Segoe UI"/>
              </a:rPr>
              <a:t>BPB Solutions LTD  ·  Internal Governance Architecture Report  ·  CANONICAL_v1.0  ·  8 March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C9A96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961"/>
                </a:solidFill>
                <a:latin typeface="Segoe UI"/>
              </a:rPr>
              <a:t>LAYER 3 · PMS_GOVERN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⚙️  Execution Governance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502920" cy="41148"/>
          </a:xfrm>
          <a:prstGeom prst="rect">
            <a:avLst/>
          </a:prstGeom>
          <a:solidFill>
            <a:srgbClr val="C9A96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9A961"/>
                </a:solidFill>
                <a:latin typeface="Segoe UI"/>
              </a:rPr>
              <a:t>Command → Complexity Score → Authority Gate (QGED) → Execution → Ledger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29968"/>
            <a:ext cx="5394960" cy="1005840"/>
          </a:xfrm>
          <a:prstGeom prst="rect">
            <a:avLst/>
          </a:prstGeom>
          <a:solidFill>
            <a:srgbClr val="2A2A3E"/>
          </a:solidFill>
          <a:ln w="15240">
            <a:solidFill>
              <a:srgbClr val="889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084831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899AA"/>
                </a:solidFill>
                <a:latin typeface="Segoe UI"/>
              </a:rPr>
              <a:t>Traditional RBAC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9AA"/>
                </a:solidFill>
                <a:latin typeface="Segoe UI"/>
              </a:rPr>
              <a:t>User → Role → Permission → 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029968"/>
            <a:ext cx="5394960" cy="1005840"/>
          </a:xfrm>
          <a:prstGeom prst="rect">
            <a:avLst/>
          </a:prstGeom>
          <a:solidFill>
            <a:srgbClr val="2A2A3E"/>
          </a:solidFill>
          <a:ln w="1524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2084831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9A961"/>
                </a:solidFill>
                <a:latin typeface="Segoe UI"/>
              </a:rPr>
              <a:t>PMS Authority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4688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9AA"/>
                </a:solidFill>
                <a:latin typeface="Segoe UI"/>
              </a:rPr>
              <a:t>Command → Complexity → Authority →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218688"/>
            <a:ext cx="11183112" cy="1234440"/>
          </a:xfrm>
          <a:prstGeom prst="rect">
            <a:avLst/>
          </a:prstGeom>
          <a:solidFill>
            <a:srgbClr val="181408"/>
          </a:solidFill>
          <a:ln w="1905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29184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961"/>
                </a:solidFill>
                <a:latin typeface="Segoe UI"/>
              </a:rPr>
              <a:t>Governance Gradient: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11880"/>
            <a:ext cx="10817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Complexity 1–3: Delegated execution  |  Complexity 4–7: Dual-signature required  |  Complexity 8–10: AA authority mandatory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023360"/>
            <a:ext cx="10817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99AA"/>
                </a:solidFill>
                <a:latin typeface="Segoe UI"/>
              </a:rPr>
              <a:t>Compliance: SHA-256 hash-chained ledger  ·  UTC timestamps  ·  Append-only  ·  Emergency override with full audit trail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1A2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" y="6528816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9A961"/>
                </a:solidFill>
                <a:latin typeface="Segoe UI"/>
              </a:rPr>
              <a:t>BPB Solutions LTD  ·  Internal Governance Architecture Report  ·  CANONICAL_v1.0  ·  8 March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C9A96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961"/>
                </a:solidFill>
                <a:latin typeface="Segoe UI"/>
              </a:rPr>
              <a:t>LAYER 4 · INSTITUTIONAL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🔗  Immutable Ledger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502920" cy="41148"/>
          </a:xfrm>
          <a:prstGeom prst="rect">
            <a:avLst/>
          </a:prstGeom>
          <a:solidFill>
            <a:srgbClr val="C9A96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16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9AA"/>
                </a:solidFill>
                <a:latin typeface="Segoe UI"/>
              </a:rPr>
              <a:t>Permanent, auditable record of all governance decisions. Blockchain-style hash-chained. NO entry may ever be modified.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84831"/>
            <a:ext cx="3200400" cy="1783080"/>
          </a:xfrm>
          <a:prstGeom prst="rect">
            <a:avLst/>
          </a:prstGeom>
          <a:solidFill>
            <a:srgbClr val="2A2A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176271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A961"/>
                </a:solidFill>
                <a:latin typeface="Courier New"/>
              </a:rPr>
              <a:t>Entry: vehicle_release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23743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ourier New"/>
              </a:rPr>
              <a:t>complexity: 7
sector: trade
signer: AA
status: ALLOW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50215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9A961"/>
                </a:solidFill>
                <a:latin typeface="Courier New"/>
              </a:rPr>
              <a:t>hash: a3f7b9e2…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724911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9A961"/>
                </a:solidFill>
                <a:latin typeface="Segoe U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084831"/>
            <a:ext cx="3200400" cy="1783080"/>
          </a:xfrm>
          <a:prstGeom prst="rect">
            <a:avLst/>
          </a:prstGeom>
          <a:solidFill>
            <a:srgbClr val="2A2A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2176271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A961"/>
                </a:solidFill>
                <a:latin typeface="Courier New"/>
              </a:rPr>
              <a:t>Entry: payment_approval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523743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ourier New"/>
              </a:rPr>
              <a:t>complexity: 9
sector: finance
signer: AA
prev: a3f7b9e2…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50215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9A961"/>
                </a:solidFill>
                <a:latin typeface="Courier New"/>
              </a:rPr>
              <a:t>hash: 9e2c41f7…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724911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9A961"/>
                </a:solidFill>
                <a:latin typeface="Segoe U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9560" y="2084831"/>
            <a:ext cx="3200400" cy="1783080"/>
          </a:xfrm>
          <a:prstGeom prst="rect">
            <a:avLst/>
          </a:prstGeom>
          <a:solidFill>
            <a:srgbClr val="2A2A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01000" y="2176271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A961"/>
                </a:solidFill>
                <a:latin typeface="Courier New"/>
              </a:rPr>
              <a:t>Entry: contract_mod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523743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ourier New"/>
              </a:rPr>
              <a:t>complexity: 10
sector: system
signer: AA
prev: 9e2c41f7…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50215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9A961"/>
                </a:solidFill>
                <a:latin typeface="Courier New"/>
              </a:rPr>
              <a:t>hash: c8b3d5a1…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023360"/>
            <a:ext cx="11183112" cy="804672"/>
          </a:xfrm>
          <a:prstGeom prst="rect">
            <a:avLst/>
          </a:prstGeom>
          <a:solidFill>
            <a:srgbClr val="181408"/>
          </a:solidFill>
          <a:ln w="1524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4078224"/>
            <a:ext cx="108173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Dispute Resolution: In cross-border automotive trade, the ledger provides objective proof of the authorization chain — critical for resolving conflicts between buyers, sellers, shipping companies, and brokers.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1A2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6528816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9A961"/>
                </a:solidFill>
                <a:latin typeface="Segoe UI"/>
              </a:rPr>
              <a:t>BPB Solutions LTD  ·  Internal Governance Architecture Report  ·  CANONICAL_v1.0  ·  8 March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C9A96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961"/>
                </a:solidFill>
                <a:latin typeface="Segoe UI"/>
              </a:rPr>
              <a:t>PART 2 · MARKET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📊  Competitive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502920" cy="41148"/>
          </a:xfrm>
          <a:prstGeom prst="rect">
            <a:avLst/>
          </a:prstGeom>
          <a:solidFill>
            <a:srgbClr val="C9A96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508760"/>
            <a:ext cx="1828800" cy="475488"/>
          </a:xfrm>
          <a:prstGeom prst="rect">
            <a:avLst/>
          </a:prstGeom>
          <a:solidFill>
            <a:srgbClr val="201808"/>
          </a:solidFill>
          <a:ln w="1270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3192" y="1600200"/>
            <a:ext cx="16824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961"/>
                </a:solidFill>
                <a:latin typeface="Segoe UI"/>
              </a:rPr>
              <a:t>Category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2148840" y="1508760"/>
            <a:ext cx="2560320" cy="475488"/>
          </a:xfrm>
          <a:prstGeom prst="rect">
            <a:avLst/>
          </a:prstGeom>
          <a:solidFill>
            <a:srgbClr val="201808"/>
          </a:solidFill>
          <a:ln w="1270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21992" y="1600200"/>
            <a:ext cx="24140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961"/>
                </a:solidFill>
                <a:latin typeface="Segoe UI"/>
              </a:rPr>
              <a:t>Traditional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508760"/>
            <a:ext cx="3840480" cy="475488"/>
          </a:xfrm>
          <a:prstGeom prst="rect">
            <a:avLst/>
          </a:prstGeom>
          <a:solidFill>
            <a:srgbClr val="201808"/>
          </a:solidFill>
          <a:ln w="1270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82312" y="1600200"/>
            <a:ext cx="36941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961"/>
                </a:solidFill>
                <a:latin typeface="Segoe UI"/>
              </a:rPr>
              <a:t>BPB 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49640" y="1508760"/>
            <a:ext cx="3291840" cy="475488"/>
          </a:xfrm>
          <a:prstGeom prst="rect">
            <a:avLst/>
          </a:prstGeom>
          <a:solidFill>
            <a:srgbClr val="201808"/>
          </a:solidFill>
          <a:ln w="1270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22792" y="1600200"/>
            <a:ext cx="31455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961"/>
                </a:solidFill>
                <a:latin typeface="Segoe UI"/>
              </a:rPr>
              <a:t>Advantage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984248"/>
            <a:ext cx="1828800" cy="475488"/>
          </a:xfrm>
          <a:prstGeom prst="rect">
            <a:avLst/>
          </a:prstGeom>
          <a:solidFill>
            <a:srgbClr val="1616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3192" y="2057400"/>
            <a:ext cx="16824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99AA"/>
                </a:solidFill>
                <a:latin typeface="Segoe UI"/>
              </a:rPr>
              <a:t>Governance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48840" y="1984248"/>
            <a:ext cx="2560320" cy="475488"/>
          </a:xfrm>
          <a:prstGeom prst="rect">
            <a:avLst/>
          </a:prstGeom>
          <a:solidFill>
            <a:srgbClr val="1616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21992" y="2057400"/>
            <a:ext cx="24140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99AA"/>
                </a:solidFill>
                <a:latin typeface="Segoe UI"/>
              </a:rPr>
              <a:t>RBAC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60" y="1984248"/>
            <a:ext cx="3840480" cy="475488"/>
          </a:xfrm>
          <a:prstGeom prst="rect">
            <a:avLst/>
          </a:prstGeom>
          <a:solidFill>
            <a:srgbClr val="1616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82312" y="2057400"/>
            <a:ext cx="36941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A961"/>
                </a:solidFill>
                <a:latin typeface="Segoe UI"/>
              </a:rPr>
              <a:t>Authority-first command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49640" y="1984248"/>
            <a:ext cx="3291840" cy="475488"/>
          </a:xfrm>
          <a:prstGeom prst="rect">
            <a:avLst/>
          </a:prstGeom>
          <a:solidFill>
            <a:srgbClr val="1616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22792" y="2057400"/>
            <a:ext cx="31455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Segoe UI"/>
              </a:rPr>
              <a:t>Dynamic risk adaptation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459736"/>
            <a:ext cx="1828800" cy="475488"/>
          </a:xfrm>
          <a:prstGeom prst="rect">
            <a:avLst/>
          </a:prstGeom>
          <a:solidFill>
            <a:srgbClr val="1C1C30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93192" y="2532888"/>
            <a:ext cx="16824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99AA"/>
                </a:solidFill>
                <a:latin typeface="Segoe UI"/>
              </a:rPr>
              <a:t>Decision Logic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48840" y="2459736"/>
            <a:ext cx="2560320" cy="475488"/>
          </a:xfrm>
          <a:prstGeom prst="rect">
            <a:avLst/>
          </a:prstGeom>
          <a:solidFill>
            <a:srgbClr val="1C1C30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221992" y="2532888"/>
            <a:ext cx="24140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99AA"/>
                </a:solidFill>
                <a:latin typeface="Segoe UI"/>
              </a:rPr>
              <a:t>Binary allow/deny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9160" y="2459736"/>
            <a:ext cx="3840480" cy="475488"/>
          </a:xfrm>
          <a:prstGeom prst="rect">
            <a:avLst/>
          </a:prstGeom>
          <a:solidFill>
            <a:srgbClr val="1C1C30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82312" y="2532888"/>
            <a:ext cx="36941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A961"/>
                </a:solidFill>
                <a:latin typeface="Segoe UI"/>
              </a:rPr>
              <a:t>Complexity-scaled authority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49640" y="2459736"/>
            <a:ext cx="3291840" cy="475488"/>
          </a:xfrm>
          <a:prstGeom prst="rect">
            <a:avLst/>
          </a:prstGeom>
          <a:solidFill>
            <a:srgbClr val="1C1C30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22792" y="2532888"/>
            <a:ext cx="31455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Segoe UI"/>
              </a:rPr>
              <a:t>Institutional-grade control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935224"/>
            <a:ext cx="1828800" cy="475488"/>
          </a:xfrm>
          <a:prstGeom prst="rect">
            <a:avLst/>
          </a:prstGeom>
          <a:solidFill>
            <a:srgbClr val="1616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93192" y="3008376"/>
            <a:ext cx="16824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99AA"/>
                </a:solidFill>
                <a:latin typeface="Segoe UI"/>
              </a:rPr>
              <a:t>Audit Trail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48840" y="2935224"/>
            <a:ext cx="2560320" cy="475488"/>
          </a:xfrm>
          <a:prstGeom prst="rect">
            <a:avLst/>
          </a:prstGeom>
          <a:solidFill>
            <a:srgbClr val="1616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221992" y="3008376"/>
            <a:ext cx="24140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99AA"/>
                </a:solidFill>
                <a:latin typeface="Segoe UI"/>
              </a:rPr>
              <a:t>DB logs (mutable)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09160" y="2935224"/>
            <a:ext cx="3840480" cy="475488"/>
          </a:xfrm>
          <a:prstGeom prst="rect">
            <a:avLst/>
          </a:prstGeom>
          <a:solidFill>
            <a:srgbClr val="1616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82312" y="3008376"/>
            <a:ext cx="36941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A961"/>
                </a:solidFill>
                <a:latin typeface="Segoe UI"/>
              </a:rPr>
              <a:t>Hash-chained immutable ledger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49640" y="2935224"/>
            <a:ext cx="3291840" cy="475488"/>
          </a:xfrm>
          <a:prstGeom prst="rect">
            <a:avLst/>
          </a:prstGeom>
          <a:solidFill>
            <a:srgbClr val="1616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22792" y="3008376"/>
            <a:ext cx="31455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Segoe UI"/>
              </a:rPr>
              <a:t>Regulator-defensible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3410712"/>
            <a:ext cx="1828800" cy="475488"/>
          </a:xfrm>
          <a:prstGeom prst="rect">
            <a:avLst/>
          </a:prstGeom>
          <a:solidFill>
            <a:srgbClr val="1C1C30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93192" y="3483864"/>
            <a:ext cx="16824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99AA"/>
                </a:solidFill>
                <a:latin typeface="Segoe UI"/>
              </a:rPr>
              <a:t>AI Integration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48840" y="3410712"/>
            <a:ext cx="2560320" cy="475488"/>
          </a:xfrm>
          <a:prstGeom prst="rect">
            <a:avLst/>
          </a:prstGeom>
          <a:solidFill>
            <a:srgbClr val="1C1C30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221992" y="3483864"/>
            <a:ext cx="24140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99AA"/>
                </a:solidFill>
                <a:latin typeface="Segoe UI"/>
              </a:rPr>
              <a:t>Autonomous execution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09160" y="3410712"/>
            <a:ext cx="3840480" cy="475488"/>
          </a:xfrm>
          <a:prstGeom prst="rect">
            <a:avLst/>
          </a:prstGeom>
          <a:solidFill>
            <a:srgbClr val="1C1C30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82312" y="3483864"/>
            <a:ext cx="36941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A961"/>
                </a:solidFill>
                <a:latin typeface="Segoe UI"/>
              </a:rPr>
              <a:t>Proposal-only (human gate)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49640" y="3410712"/>
            <a:ext cx="3291840" cy="475488"/>
          </a:xfrm>
          <a:prstGeom prst="rect">
            <a:avLst/>
          </a:prstGeom>
          <a:solidFill>
            <a:srgbClr val="1C1C30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622792" y="3483864"/>
            <a:ext cx="31455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Segoe UI"/>
              </a:rPr>
              <a:t>Safety-by-design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886200"/>
            <a:ext cx="1828800" cy="475488"/>
          </a:xfrm>
          <a:prstGeom prst="rect">
            <a:avLst/>
          </a:prstGeom>
          <a:solidFill>
            <a:srgbClr val="1616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93192" y="3959352"/>
            <a:ext cx="16824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99AA"/>
                </a:solidFill>
                <a:latin typeface="Segoe UI"/>
              </a:rPr>
              <a:t>Platform Type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48840" y="3886200"/>
            <a:ext cx="2560320" cy="475488"/>
          </a:xfrm>
          <a:prstGeom prst="rect">
            <a:avLst/>
          </a:prstGeom>
          <a:solidFill>
            <a:srgbClr val="1616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221992" y="3959352"/>
            <a:ext cx="24140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99AA"/>
                </a:solidFill>
                <a:latin typeface="Segoe UI"/>
              </a:rPr>
              <a:t>Marketplace / listing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09160" y="3886200"/>
            <a:ext cx="3840480" cy="475488"/>
          </a:xfrm>
          <a:prstGeom prst="rect">
            <a:avLst/>
          </a:prstGeom>
          <a:solidFill>
            <a:srgbClr val="1616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782312" y="3959352"/>
            <a:ext cx="36941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A961"/>
                </a:solidFill>
                <a:latin typeface="Segoe UI"/>
              </a:rPr>
              <a:t>Governance platform + market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49640" y="3886200"/>
            <a:ext cx="3291840" cy="475488"/>
          </a:xfrm>
          <a:prstGeom prst="rect">
            <a:avLst/>
          </a:prstGeom>
          <a:solidFill>
            <a:srgbClr val="1616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622792" y="3959352"/>
            <a:ext cx="31455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Segoe UI"/>
              </a:rPr>
              <a:t>Filtered qualified audience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1A2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74320" y="6528816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9A961"/>
                </a:solidFill>
                <a:latin typeface="Segoe UI"/>
              </a:rPr>
              <a:t>BPB Solutions LTD  ·  Internal Governance Architecture Report  ·  CANONICAL_v1.0  ·  8 March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C9A96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961"/>
                </a:solidFill>
                <a:latin typeface="Segoe UI"/>
              </a:rPr>
              <a:t>PART 2 · ADDRESSABLE MARKETS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🌐  Six Target Verticals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502920" cy="41148"/>
          </a:xfrm>
          <a:prstGeom prst="rect">
            <a:avLst/>
          </a:prstGeom>
          <a:solidFill>
            <a:srgbClr val="C9A96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554480"/>
            <a:ext cx="3566160" cy="1143000"/>
          </a:xfrm>
          <a:prstGeom prst="rect">
            <a:avLst/>
          </a:prstGeom>
          <a:solidFill>
            <a:srgbClr val="2A2A3E"/>
          </a:solidFill>
          <a:ln w="635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1208" y="1645920"/>
            <a:ext cx="3346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A961"/>
                </a:solidFill>
                <a:latin typeface="Segoe UI"/>
              </a:rPr>
              <a:t>🚗  Automotive Trade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2011680"/>
            <a:ext cx="334670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99AA"/>
                </a:solidFill>
                <a:latin typeface="Segoe UI"/>
              </a:rPr>
              <a:t>Provable authorization chain for high-value cross-border transactions.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554480"/>
            <a:ext cx="3566160" cy="1143000"/>
          </a:xfrm>
          <a:prstGeom prst="rect">
            <a:avLst/>
          </a:prstGeom>
          <a:solidFill>
            <a:srgbClr val="2A2A3E"/>
          </a:solidFill>
          <a:ln w="635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15968" y="1645920"/>
            <a:ext cx="3346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A961"/>
                </a:solidFill>
                <a:latin typeface="Segoe UI"/>
              </a:rPr>
              <a:t>📦  Logistics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2011680"/>
            <a:ext cx="334670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99AA"/>
                </a:solidFill>
                <a:latin typeface="Segoe UI"/>
              </a:rPr>
              <a:t>Command governance for multi-party shipment authorization.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554480"/>
            <a:ext cx="3566160" cy="1143000"/>
          </a:xfrm>
          <a:prstGeom prst="rect">
            <a:avLst/>
          </a:prstGeom>
          <a:solidFill>
            <a:srgbClr val="2A2A3E"/>
          </a:solidFill>
          <a:ln w="635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10728" y="1645920"/>
            <a:ext cx="3346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A961"/>
                </a:solidFill>
                <a:latin typeface="Segoe UI"/>
              </a:rPr>
              <a:t>💼  Investment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0728" y="2011680"/>
            <a:ext cx="334670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99AA"/>
                </a:solidFill>
                <a:latin typeface="Segoe UI"/>
              </a:rPr>
              <a:t>Multi-signature governance for capital deployment decisions.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880360"/>
            <a:ext cx="3566160" cy="1143000"/>
          </a:xfrm>
          <a:prstGeom prst="rect">
            <a:avLst/>
          </a:prstGeom>
          <a:solidFill>
            <a:srgbClr val="2A2A3E"/>
          </a:solidFill>
          <a:ln w="635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1208" y="2971800"/>
            <a:ext cx="3346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A961"/>
                </a:solidFill>
                <a:latin typeface="Segoe UI"/>
              </a:rPr>
              <a:t>🏢  Procurement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3337560"/>
            <a:ext cx="334670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99AA"/>
                </a:solidFill>
                <a:latin typeface="Segoe UI"/>
              </a:rPr>
              <a:t>Policy-driven governance for enterprise purchasing with authority thresholds.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2880360"/>
            <a:ext cx="3566160" cy="1143000"/>
          </a:xfrm>
          <a:prstGeom prst="rect">
            <a:avLst/>
          </a:prstGeom>
          <a:solidFill>
            <a:srgbClr val="2A2A3E"/>
          </a:solidFill>
          <a:ln w="635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15968" y="2971800"/>
            <a:ext cx="3346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A961"/>
                </a:solidFill>
                <a:latin typeface="Segoe UI"/>
              </a:rPr>
              <a:t>🤖  AI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3337560"/>
            <a:ext cx="334670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99AA"/>
                </a:solidFill>
                <a:latin typeface="Segoe UI"/>
              </a:rPr>
              <a:t>YAI safety architecture — propose-only AI with human authority gate.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2880360"/>
            <a:ext cx="3566160" cy="1143000"/>
          </a:xfrm>
          <a:prstGeom prst="rect">
            <a:avLst/>
          </a:prstGeom>
          <a:solidFill>
            <a:srgbClr val="2A2A3E"/>
          </a:solidFill>
          <a:ln w="635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10728" y="2971800"/>
            <a:ext cx="3346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A961"/>
                </a:solidFill>
                <a:latin typeface="Segoe UI"/>
              </a:rPr>
              <a:t>🏥  Regulated Industries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0728" y="3337560"/>
            <a:ext cx="334670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99AA"/>
                </a:solidFill>
                <a:latin typeface="Segoe UI"/>
              </a:rPr>
              <a:t>Immutable evidence ledger for financial services, healthcare, compliance.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1A2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" y="6528816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9A961"/>
                </a:solidFill>
                <a:latin typeface="Segoe UI"/>
              </a:rPr>
              <a:t>BPB Solutions LTD  ·  Internal Governance Architecture Report  ·  CANONICAL_v1.0  ·  8 March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C9A96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961"/>
                </a:solidFill>
                <a:latin typeface="Segoe UI"/>
              </a:rPr>
              <a:t>PART 3 · CANONICAL PORTFOLIOS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📁  BPB Asset Valuation Tiers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502920" cy="41148"/>
          </a:xfrm>
          <a:prstGeom prst="rect">
            <a:avLst/>
          </a:prstGeom>
          <a:solidFill>
            <a:srgbClr val="C9A96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536192"/>
            <a:ext cx="3566160" cy="1188720"/>
          </a:xfrm>
          <a:prstGeom prst="rect">
            <a:avLst/>
          </a:prstGeom>
          <a:solidFill>
            <a:srgbClr val="2A2A3E"/>
          </a:solidFill>
          <a:ln w="635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1208" y="1609344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PMS_GOVERN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1901952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A961"/>
                </a:solidFill>
                <a:latin typeface="Segoe UI"/>
              </a:rPr>
              <a:t>Tier 1 — Core 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2194560"/>
            <a:ext cx="3346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99AA"/>
                </a:solidFill>
                <a:latin typeface="Segoe UI"/>
              </a:rPr>
              <a:t>Exportable · Multi-industry · Regulator-grade · First-mover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536192"/>
            <a:ext cx="3566160" cy="1188720"/>
          </a:xfrm>
          <a:prstGeom prst="rect">
            <a:avLst/>
          </a:prstGeom>
          <a:solidFill>
            <a:srgbClr val="2A2A3E"/>
          </a:solidFill>
          <a:ln w="635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15968" y="1609344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AlCatara Decision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1901952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A961"/>
                </a:solidFill>
                <a:latin typeface="Segoe UI"/>
              </a:rPr>
              <a:t>Tier 1 — Core 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194560"/>
            <a:ext cx="3346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99AA"/>
                </a:solidFill>
                <a:latin typeface="Segoe UI"/>
              </a:rPr>
              <a:t>Complexity-aware · Innovation · Cross-domain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1536192"/>
            <a:ext cx="3566160" cy="1188720"/>
          </a:xfrm>
          <a:prstGeom prst="rect">
            <a:avLst/>
          </a:prstGeom>
          <a:solidFill>
            <a:srgbClr val="2A2A3E"/>
          </a:solidFill>
          <a:ln w="635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10728" y="1609344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THE BIG G Doctrine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0728" y="1901952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A961"/>
                </a:solidFill>
                <a:latin typeface="Segoe UI"/>
              </a:rPr>
              <a:t>Tier 1 — Strategic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0728" y="2194560"/>
            <a:ext cx="3346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99AA"/>
                </a:solidFill>
                <a:latin typeface="Segoe UI"/>
              </a:rPr>
              <a:t>Philosophical foundation · Authority sovereignty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907792"/>
            <a:ext cx="3566160" cy="1188720"/>
          </a:xfrm>
          <a:prstGeom prst="rect">
            <a:avLst/>
          </a:prstGeom>
          <a:solidFill>
            <a:srgbClr val="2A2A3E"/>
          </a:solidFill>
          <a:ln w="63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8" y="2980944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CARSHUNTER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" y="3273552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98DB"/>
                </a:solidFill>
                <a:latin typeface="Segoe UI"/>
              </a:rPr>
              <a:t>Tier 2 —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" y="3566160"/>
            <a:ext cx="3346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99AA"/>
                </a:solidFill>
                <a:latin typeface="Segoe UI"/>
              </a:rPr>
              <a:t>Authority brand · Filtered audience · Governed ops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2907792"/>
            <a:ext cx="3566160" cy="1188720"/>
          </a:xfrm>
          <a:prstGeom prst="rect">
            <a:avLst/>
          </a:prstGeom>
          <a:solidFill>
            <a:srgbClr val="2A2A3E"/>
          </a:solidFill>
          <a:ln w="635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15968" y="2980944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YAI Safety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5968" y="3273552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A961"/>
                </a:solidFill>
                <a:latin typeface="Segoe UI"/>
              </a:rPr>
              <a:t>Tier 1 — Regulatory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3566160"/>
            <a:ext cx="3346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99AA"/>
                </a:solidFill>
                <a:latin typeface="Segoe UI"/>
              </a:rPr>
              <a:t>Proposal-only AI · Human gate · Safety-by-design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2907792"/>
            <a:ext cx="3566160" cy="1188720"/>
          </a:xfrm>
          <a:prstGeom prst="rect">
            <a:avLst/>
          </a:prstGeom>
          <a:solidFill>
            <a:srgbClr val="2A2A3E"/>
          </a:solidFill>
          <a:ln w="6350">
            <a:solidFill>
              <a:srgbClr val="889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10728" y="2980944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Documentation Archive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0728" y="3273552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99AA"/>
                </a:solidFill>
                <a:latin typeface="Segoe UI"/>
              </a:rPr>
              <a:t>Tier 3 — 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0728" y="3566160"/>
            <a:ext cx="3346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99AA"/>
                </a:solidFill>
                <a:latin typeface="Segoe UI"/>
              </a:rPr>
              <a:t>Governance record · Audit trail · IP authorship proof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1A2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4320" y="6528816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9A961"/>
                </a:solidFill>
                <a:latin typeface="Segoe UI"/>
              </a:rPr>
              <a:t>BPB Solutions LTD  ·  Internal Governance Architecture Report  ·  CANONICAL_v1.0  ·  8 March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C9A96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961"/>
                </a:solidFill>
                <a:latin typeface="Segoe UI"/>
              </a:rPr>
              <a:t>PART 4 · OPERATIONS — LAST 60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📅  Governance System Evolution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502920" cy="41148"/>
          </a:xfrm>
          <a:prstGeom prst="rect">
            <a:avLst/>
          </a:prstGeom>
          <a:solidFill>
            <a:srgbClr val="C9A96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58191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961"/>
                </a:solidFill>
                <a:latin typeface="Courier New"/>
              </a:rPr>
              <a:t>2026-01-10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1682496"/>
            <a:ext cx="109728" cy="109728"/>
          </a:xfrm>
          <a:prstGeom prst="rect">
            <a:avLst/>
          </a:prstGeom>
          <a:solidFill>
            <a:srgbClr val="C9A96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778508" y="1792224"/>
            <a:ext cx="27432" cy="530352"/>
          </a:xfrm>
          <a:prstGeom prst="rect">
            <a:avLst/>
          </a:prstGeom>
          <a:solidFill>
            <a:srgbClr val="4444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965960" y="1536192"/>
            <a:ext cx="9720072" cy="658368"/>
          </a:xfrm>
          <a:prstGeom prst="rect">
            <a:avLst/>
          </a:prstGeom>
          <a:solidFill>
            <a:srgbClr val="2A2A3E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03120" y="1581912"/>
            <a:ext cx="9445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PMS_GOVERN doctrine formalized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883664"/>
            <a:ext cx="9445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899AA"/>
                </a:solidFill>
                <a:latin typeface="Segoe UI"/>
              </a:rPr>
              <a:t>Authority chain defined · QGED gate implemented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9514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961"/>
                </a:solidFill>
                <a:latin typeface="Courier New"/>
              </a:rPr>
              <a:t>2026-01-22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7360" y="2395728"/>
            <a:ext cx="109728" cy="109728"/>
          </a:xfrm>
          <a:prstGeom prst="rect">
            <a:avLst/>
          </a:prstGeom>
          <a:solidFill>
            <a:srgbClr val="C9A96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778508" y="2505456"/>
            <a:ext cx="27432" cy="530352"/>
          </a:xfrm>
          <a:prstGeom prst="rect">
            <a:avLst/>
          </a:prstGeom>
          <a:solidFill>
            <a:srgbClr val="4444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965960" y="2249424"/>
            <a:ext cx="9720072" cy="658368"/>
          </a:xfrm>
          <a:prstGeom prst="rect">
            <a:avLst/>
          </a:prstGeom>
          <a:solidFill>
            <a:srgbClr val="2A2A3E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03120" y="2295144"/>
            <a:ext cx="9445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AlCatara integrated with PMS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596896"/>
            <a:ext cx="9445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899AA"/>
                </a:solidFill>
                <a:latin typeface="Segoe UI"/>
              </a:rPr>
              <a:t>Complexity-aware governance activated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00837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961"/>
                </a:solidFill>
                <a:latin typeface="Courier New"/>
              </a:rPr>
              <a:t>2026-02-05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37360" y="3108960"/>
            <a:ext cx="109728" cy="109728"/>
          </a:xfrm>
          <a:prstGeom prst="rect">
            <a:avLst/>
          </a:prstGeom>
          <a:solidFill>
            <a:srgbClr val="C9A96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778508" y="3218688"/>
            <a:ext cx="27432" cy="530352"/>
          </a:xfrm>
          <a:prstGeom prst="rect">
            <a:avLst/>
          </a:prstGeom>
          <a:solidFill>
            <a:srgbClr val="4444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965960" y="2962656"/>
            <a:ext cx="9720072" cy="658368"/>
          </a:xfrm>
          <a:prstGeom prst="rect">
            <a:avLst/>
          </a:prstGeom>
          <a:solidFill>
            <a:srgbClr val="2A2A3E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103120" y="3008376"/>
            <a:ext cx="9445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Immutable ledger deployed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310128"/>
            <a:ext cx="9445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899AA"/>
                </a:solidFill>
                <a:latin typeface="Segoe UI"/>
              </a:rPr>
              <a:t>Hash-chained audit trail operational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7216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961"/>
                </a:solidFill>
                <a:latin typeface="Courier New"/>
              </a:rPr>
              <a:t>2026-02-18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37360" y="3822192"/>
            <a:ext cx="109728" cy="109728"/>
          </a:xfrm>
          <a:prstGeom prst="rect">
            <a:avLst/>
          </a:prstGeom>
          <a:solidFill>
            <a:srgbClr val="C9A96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778508" y="3931920"/>
            <a:ext cx="27432" cy="530352"/>
          </a:xfrm>
          <a:prstGeom prst="rect">
            <a:avLst/>
          </a:prstGeom>
          <a:solidFill>
            <a:srgbClr val="4444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965960" y="3675888"/>
            <a:ext cx="9720072" cy="658368"/>
          </a:xfrm>
          <a:prstGeom prst="rect">
            <a:avLst/>
          </a:prstGeom>
          <a:solidFill>
            <a:srgbClr val="2A2A3E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03120" y="3721608"/>
            <a:ext cx="9445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YAI governance framework locked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4023360"/>
            <a:ext cx="9445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899AA"/>
                </a:solidFill>
                <a:latin typeface="Segoe UI"/>
              </a:rPr>
              <a:t>AI safety layer prevents autonomous execution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4348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961"/>
                </a:solidFill>
                <a:latin typeface="Courier New"/>
              </a:rPr>
              <a:t>2026-03-04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37360" y="4535424"/>
            <a:ext cx="109728" cy="109728"/>
          </a:xfrm>
          <a:prstGeom prst="rect">
            <a:avLst/>
          </a:prstGeom>
          <a:solidFill>
            <a:srgbClr val="C9A96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778508" y="4645152"/>
            <a:ext cx="27432" cy="530352"/>
          </a:xfrm>
          <a:prstGeom prst="rect">
            <a:avLst/>
          </a:prstGeom>
          <a:solidFill>
            <a:srgbClr val="4444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965960" y="4389120"/>
            <a:ext cx="9720072" cy="658368"/>
          </a:xfrm>
          <a:prstGeom prst="rect">
            <a:avLst/>
          </a:prstGeom>
          <a:solidFill>
            <a:srgbClr val="2A2A3E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103120" y="4434840"/>
            <a:ext cx="9445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CARSHUNTER Authority Upgrade v1.0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4736592"/>
            <a:ext cx="9445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899AA"/>
                </a:solidFill>
                <a:latin typeface="Segoe UI"/>
              </a:rPr>
              <a:t>Public interface reaches 100% authority positioning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14807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961"/>
                </a:solidFill>
                <a:latin typeface="Courier New"/>
              </a:rPr>
              <a:t>2026-03-06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37360" y="5248656"/>
            <a:ext cx="109728" cy="109728"/>
          </a:xfrm>
          <a:prstGeom prst="rect">
            <a:avLst/>
          </a:prstGeom>
          <a:solidFill>
            <a:srgbClr val="C9A96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965960" y="5102352"/>
            <a:ext cx="9720072" cy="658368"/>
          </a:xfrm>
          <a:prstGeom prst="rect">
            <a:avLst/>
          </a:prstGeom>
          <a:solidFill>
            <a:srgbClr val="2A2A3E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103120" y="5148072"/>
            <a:ext cx="9445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PMS Canonical v1.0 sealed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03120" y="5449824"/>
            <a:ext cx="9445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899AA"/>
                </a:solidFill>
                <a:latin typeface="Segoe UI"/>
              </a:rPr>
              <a:t>Governance system enters maintenance phase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1A2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4320" y="6528816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9A961"/>
                </a:solidFill>
                <a:latin typeface="Segoe UI"/>
              </a:rPr>
              <a:t>BPB Solutions LTD  ·  Internal Governance Architecture Report  ·  CANONICAL_v1.0  ·  8 March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C9A96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961"/>
                </a:solidFill>
                <a:latin typeface="Segoe UI"/>
              </a:rPr>
              <a:t>PART 4 · HIGH-RISK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🔐  54 Operations · Zero Failed Validations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502920" cy="41148"/>
          </a:xfrm>
          <a:prstGeom prst="rect">
            <a:avLst/>
          </a:prstGeom>
          <a:solidFill>
            <a:srgbClr val="C9A96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536192"/>
            <a:ext cx="4937760" cy="457200"/>
          </a:xfrm>
          <a:prstGeom prst="rect">
            <a:avLst/>
          </a:prstGeom>
          <a:solidFill>
            <a:srgbClr val="201808"/>
          </a:solidFill>
          <a:ln w="1270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62763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961"/>
                </a:solidFill>
                <a:latin typeface="Segoe UI"/>
              </a:rPr>
              <a:t>Operation 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40680" y="1536192"/>
            <a:ext cx="1097280" cy="457200"/>
          </a:xfrm>
          <a:prstGeom prst="rect">
            <a:avLst/>
          </a:prstGeom>
          <a:solidFill>
            <a:srgbClr val="201808"/>
          </a:solidFill>
          <a:ln w="1270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32120" y="162763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961"/>
                </a:solidFill>
                <a:latin typeface="Segoe UI"/>
              </a:rPr>
              <a:t>Count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536192"/>
            <a:ext cx="1645920" cy="457200"/>
          </a:xfrm>
          <a:prstGeom prst="rect">
            <a:avLst/>
          </a:prstGeom>
          <a:solidFill>
            <a:srgbClr val="201808"/>
          </a:solidFill>
          <a:ln w="1270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162763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961"/>
                </a:solidFill>
                <a:latin typeface="Segoe UI"/>
              </a:rPr>
              <a:t>Complexity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0" y="1536192"/>
            <a:ext cx="3291840" cy="457200"/>
          </a:xfrm>
          <a:prstGeom prst="rect">
            <a:avLst/>
          </a:prstGeom>
          <a:solidFill>
            <a:srgbClr val="201808"/>
          </a:solidFill>
          <a:ln w="1270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162763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961"/>
                </a:solidFill>
                <a:latin typeface="Segoe UI"/>
              </a:rPr>
              <a:t>Authority Level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993392"/>
            <a:ext cx="4937760" cy="457200"/>
          </a:xfrm>
          <a:prstGeom prst="rect">
            <a:avLst/>
          </a:prstGeom>
          <a:solidFill>
            <a:srgbClr val="1616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06654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Vehicle Release Authorization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40680" y="1993392"/>
            <a:ext cx="1097280" cy="457200"/>
          </a:xfrm>
          <a:prstGeom prst="rect">
            <a:avLst/>
          </a:prstGeom>
          <a:solidFill>
            <a:srgbClr val="1616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32120" y="206654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A961"/>
                </a:solidFill>
                <a:latin typeface="Segoe UI"/>
              </a:rPr>
              <a:t>23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1993392"/>
            <a:ext cx="1645920" cy="457200"/>
          </a:xfrm>
          <a:prstGeom prst="rect">
            <a:avLst/>
          </a:prstGeom>
          <a:solidFill>
            <a:srgbClr val="1616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29400" y="2066544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A961"/>
                </a:solidFill>
                <a:latin typeface="Segoe UI"/>
              </a:rPr>
              <a:t>6–8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80" y="1993392"/>
            <a:ext cx="3291840" cy="457200"/>
          </a:xfrm>
          <a:prstGeom prst="rect">
            <a:avLst/>
          </a:prstGeom>
          <a:solidFill>
            <a:srgbClr val="1616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20" y="206654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A961"/>
                </a:solidFill>
                <a:latin typeface="Segoe UI"/>
              </a:rPr>
              <a:t>Dual-sign / AA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450592"/>
            <a:ext cx="4937760" cy="457200"/>
          </a:xfrm>
          <a:prstGeom prst="rect">
            <a:avLst/>
          </a:prstGeom>
          <a:solidFill>
            <a:srgbClr val="1C1C30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252374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Payment Approvals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40680" y="2450592"/>
            <a:ext cx="1097280" cy="457200"/>
          </a:xfrm>
          <a:prstGeom prst="rect">
            <a:avLst/>
          </a:prstGeom>
          <a:solidFill>
            <a:srgbClr val="1C1C30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32120" y="252374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A961"/>
                </a:solidFill>
                <a:latin typeface="Segoe UI"/>
              </a:rPr>
              <a:t>14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960" y="2450592"/>
            <a:ext cx="1645920" cy="457200"/>
          </a:xfrm>
          <a:prstGeom prst="rect">
            <a:avLst/>
          </a:prstGeom>
          <a:solidFill>
            <a:srgbClr val="1C1C30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29400" y="2523744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A961"/>
                </a:solidFill>
                <a:latin typeface="Segoe UI"/>
              </a:rPr>
              <a:t>7–9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80" y="2450592"/>
            <a:ext cx="3291840" cy="457200"/>
          </a:xfrm>
          <a:prstGeom prst="rect">
            <a:avLst/>
          </a:prstGeom>
          <a:solidFill>
            <a:srgbClr val="1C1C30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75320" y="252374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A961"/>
                </a:solidFill>
                <a:latin typeface="Segoe UI"/>
              </a:rPr>
              <a:t>AA Required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907792"/>
            <a:ext cx="4937760" cy="457200"/>
          </a:xfrm>
          <a:prstGeom prst="rect">
            <a:avLst/>
          </a:prstGeom>
          <a:solidFill>
            <a:srgbClr val="1616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298094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Contract Modifications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40680" y="2907792"/>
            <a:ext cx="1097280" cy="457200"/>
          </a:xfrm>
          <a:prstGeom prst="rect">
            <a:avLst/>
          </a:prstGeom>
          <a:solidFill>
            <a:srgbClr val="1616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532120" y="298094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A961"/>
                </a:solidFill>
                <a:latin typeface="Segoe UI"/>
              </a:rPr>
              <a:t>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37960" y="2907792"/>
            <a:ext cx="1645920" cy="457200"/>
          </a:xfrm>
          <a:prstGeom prst="rect">
            <a:avLst/>
          </a:prstGeom>
          <a:solidFill>
            <a:srgbClr val="1616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29400" y="2980944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A961"/>
                </a:solidFill>
                <a:latin typeface="Segoe UI"/>
              </a:rPr>
              <a:t>8–10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83880" y="2907792"/>
            <a:ext cx="3291840" cy="457200"/>
          </a:xfrm>
          <a:prstGeom prst="rect">
            <a:avLst/>
          </a:prstGeom>
          <a:solidFill>
            <a:srgbClr val="1616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75320" y="298094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A961"/>
                </a:solidFill>
                <a:latin typeface="Segoe UI"/>
              </a:rPr>
              <a:t>AA Required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3364992"/>
            <a:ext cx="4937760" cy="457200"/>
          </a:xfrm>
          <a:prstGeom prst="rect">
            <a:avLst/>
          </a:prstGeom>
          <a:solidFill>
            <a:srgbClr val="1C1C30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4360" y="343814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Governance System Changes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40680" y="3364992"/>
            <a:ext cx="1097280" cy="457200"/>
          </a:xfrm>
          <a:prstGeom prst="rect">
            <a:avLst/>
          </a:prstGeom>
          <a:solidFill>
            <a:srgbClr val="1C1C30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532120" y="343814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A961"/>
                </a:solidFill>
                <a:latin typeface="Segoe UI"/>
              </a:rPr>
              <a:t>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37960" y="3364992"/>
            <a:ext cx="1645920" cy="457200"/>
          </a:xfrm>
          <a:prstGeom prst="rect">
            <a:avLst/>
          </a:prstGeom>
          <a:solidFill>
            <a:srgbClr val="1C1C30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29400" y="3438144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A961"/>
                </a:solidFill>
                <a:latin typeface="Segoe UI"/>
              </a:rPr>
              <a:t>10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83880" y="3364992"/>
            <a:ext cx="3291840" cy="457200"/>
          </a:xfrm>
          <a:prstGeom prst="rect">
            <a:avLst/>
          </a:prstGeom>
          <a:solidFill>
            <a:srgbClr val="1C1C30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275320" y="343814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A961"/>
                </a:solidFill>
                <a:latin typeface="Segoe UI"/>
              </a:rPr>
              <a:t>AA Exclusive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822192"/>
            <a:ext cx="4937760" cy="457200"/>
          </a:xfrm>
          <a:prstGeom prst="rect">
            <a:avLst/>
          </a:prstGeom>
          <a:solidFill>
            <a:srgbClr val="1616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4360" y="389534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Partner Authority Delegation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40680" y="3822192"/>
            <a:ext cx="1097280" cy="457200"/>
          </a:xfrm>
          <a:prstGeom prst="rect">
            <a:avLst/>
          </a:prstGeom>
          <a:solidFill>
            <a:srgbClr val="1616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532120" y="389534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A961"/>
                </a:solidFill>
                <a:latin typeface="Segoe UI"/>
              </a:rPr>
              <a:t>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37960" y="3822192"/>
            <a:ext cx="1645920" cy="457200"/>
          </a:xfrm>
          <a:prstGeom prst="rect">
            <a:avLst/>
          </a:prstGeom>
          <a:solidFill>
            <a:srgbClr val="1616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629400" y="3895344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A961"/>
                </a:solidFill>
                <a:latin typeface="Segoe UI"/>
              </a:rPr>
              <a:t>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83880" y="3822192"/>
            <a:ext cx="3291840" cy="457200"/>
          </a:xfrm>
          <a:prstGeom prst="rect">
            <a:avLst/>
          </a:prstGeom>
          <a:solidFill>
            <a:srgbClr val="1616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275320" y="389534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A961"/>
                </a:solidFill>
                <a:latin typeface="Segoe UI"/>
              </a:rPr>
              <a:t>AA Required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4206240"/>
            <a:ext cx="11183112" cy="804672"/>
          </a:xfrm>
          <a:prstGeom prst="rect">
            <a:avLst/>
          </a:prstGeom>
          <a:solidFill>
            <a:srgbClr val="181408"/>
          </a:solidFill>
          <a:ln w="1524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85800" y="4261104"/>
            <a:ext cx="108173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Compliance Record: 12 canonical governance documents  ·  37 BMW vehicle offers processed  ·  8 complete AI-assisted governance sessions  ·  142 WhatsApp records archived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1A2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74320" y="6528816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9A961"/>
                </a:solidFill>
                <a:latin typeface="Segoe UI"/>
              </a:rPr>
              <a:t>BPB Solutions LTD  ·  Internal Governance Architecture Report  ·  CANONICAL_v1.0  ·  8 March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C9A96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961"/>
                </a:solidFill>
                <a:latin typeface="Segoe UI"/>
              </a:rPr>
              <a:t>PART 5 · 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🚀  Market Entry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502920" cy="41148"/>
          </a:xfrm>
          <a:prstGeom prst="rect">
            <a:avLst/>
          </a:prstGeom>
          <a:solidFill>
            <a:srgbClr val="C9A96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536192"/>
            <a:ext cx="2651760" cy="1463040"/>
          </a:xfrm>
          <a:prstGeom prst="rect">
            <a:avLst/>
          </a:prstGeom>
          <a:solidFill>
            <a:srgbClr val="2A2A3E"/>
          </a:solidFill>
          <a:ln w="1016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1208" y="1609344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9A961"/>
                </a:solidFill>
                <a:latin typeface="Segoe UI"/>
              </a:rPr>
              <a:t>PHASE 1 · Q2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1920240"/>
            <a:ext cx="24323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CARSHUNTER as proof-of-concept for governance-backed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2697480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99AA"/>
                </a:solidFill>
                <a:latin typeface="Segoe UI"/>
              </a:rPr>
              <a:t>Metric: 10 qualified dealer inquiries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536192"/>
            <a:ext cx="2651760" cy="1463040"/>
          </a:xfrm>
          <a:prstGeom prst="rect">
            <a:avLst/>
          </a:prstGeom>
          <a:solidFill>
            <a:srgbClr val="2A2A3E"/>
          </a:solidFill>
          <a:ln w="1016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55848" y="1609344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9A961"/>
                </a:solidFill>
                <a:latin typeface="Segoe UI"/>
              </a:rPr>
              <a:t>PHASE 2 · Q3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5848" y="1920240"/>
            <a:ext cx="24323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Package PMS as Governance-as-a-Service for automotive trade networks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2697480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99AA"/>
                </a:solidFill>
                <a:latin typeface="Segoe UI"/>
              </a:rPr>
              <a:t>Metric: 2 pilot implementations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536192"/>
            <a:ext cx="2651760" cy="1463040"/>
          </a:xfrm>
          <a:prstGeom prst="rect">
            <a:avLst/>
          </a:prstGeom>
          <a:solidFill>
            <a:srgbClr val="2A2A3E"/>
          </a:solidFill>
          <a:ln w="1016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90488" y="1609344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9A961"/>
                </a:solidFill>
                <a:latin typeface="Segoe UI"/>
              </a:rPr>
              <a:t>PHASE 3 · Q4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1920240"/>
            <a:ext cx="24323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Expand to logistics and procurement verticals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2697480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99AA"/>
                </a:solidFill>
                <a:latin typeface="Segoe UI"/>
              </a:rPr>
              <a:t>Metric: 5 enterprise clients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15400" y="1536192"/>
            <a:ext cx="2651760" cy="1463040"/>
          </a:xfrm>
          <a:prstGeom prst="rect">
            <a:avLst/>
          </a:prstGeom>
          <a:solidFill>
            <a:srgbClr val="2A2A3E"/>
          </a:solidFill>
          <a:ln w="1016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25128" y="1609344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9A961"/>
                </a:solidFill>
                <a:latin typeface="Segoe UI"/>
              </a:rPr>
              <a:t>PHASE 4 · Q1 2027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5128" y="1920240"/>
            <a:ext cx="24323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Position as AI governance infrastructure for regulated industries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5128" y="2697480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99AA"/>
                </a:solidFill>
                <a:latin typeface="Segoe UI"/>
              </a:rPr>
              <a:t>Metric: Regulatory recognition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200400"/>
            <a:ext cx="11183112" cy="1005840"/>
          </a:xfrm>
          <a:prstGeom prst="rect">
            <a:avLst/>
          </a:prstGeom>
          <a:solidFill>
            <a:srgbClr val="181408"/>
          </a:solidFill>
          <a:ln w="1524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3264408"/>
            <a:ext cx="108173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IP Protection: File provisional patent for authority-first architecture  ·  Trademark PMS_GOVERN &amp; AlCatara  ·  Copyright all canonical docs with hash-stamps  ·  Establish trade secrets for QGED gate logic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1A2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" y="6528816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9A961"/>
                </a:solidFill>
                <a:latin typeface="Segoe UI"/>
              </a:rPr>
              <a:t>BPB Solutions LTD  ·  Internal Governance Architecture Report  ·  CANONICAL_v1.0  ·  8 March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96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9A96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0" y="457200"/>
            <a:ext cx="1581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  <a:latin typeface="Segoe UI"/>
              </a:rPr>
              <a:t>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C9A961"/>
                </a:solidFill>
                <a:latin typeface="Segoe UI"/>
              </a:rPr>
              <a:t>INTERNAL — CONFIDENTIAL  ·  DISTRIBUTION: AA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Segoe UI"/>
              </a:rPr>
              <a:t>BPB Solutions LTD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2834640"/>
            <a:ext cx="1947672" cy="50292"/>
          </a:xfrm>
          <a:prstGeom prst="rect">
            <a:avLst/>
          </a:prstGeom>
          <a:solidFill>
            <a:srgbClr val="C9A96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99923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A961"/>
                </a:solidFill>
                <a:latin typeface="Segoe UI"/>
              </a:rPr>
              <a:t>Governance Maturity: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999232"/>
            <a:ext cx="8805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99AA"/>
                </a:solidFill>
                <a:latin typeface="Segoe UI"/>
              </a:rPr>
              <a:t>Institutional-grade architecture — rare for an SME. Closer to financial clearing houses than typical business software.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0215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A961"/>
                </a:solidFill>
                <a:latin typeface="Segoe UI"/>
              </a:rPr>
              <a:t>Competitive Moat: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502152"/>
            <a:ext cx="8805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99AA"/>
                </a:solidFill>
                <a:latin typeface="Segoe UI"/>
              </a:rPr>
              <a:t>First-mover in complexity-aware governance scaling. RBAC cannot adapt authority requirements dynamically to risk.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0507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A961"/>
                </a:solidFill>
                <a:latin typeface="Segoe UI"/>
              </a:rPr>
              <a:t>Current Phase: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4005072"/>
            <a:ext cx="8805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99AA"/>
                </a:solidFill>
                <a:latin typeface="Segoe UI"/>
              </a:rPr>
              <a:t>Authority Maintenance — operational, stable, and ready for qualified counterpart engagement.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3776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44466"/>
                </a:solidFill>
                <a:latin typeface="Segoe UI"/>
              </a:rPr>
              <a:t>Hash: SHA256:8f7a3e9b2c1d4f5a…  ·  YAI Governance Analysis System  ·  Supervisor: Alaa Atia (AA)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5508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9A961"/>
                </a:solidFill>
                <a:latin typeface="Segoe UI"/>
              </a:rPr>
              <a:t>CANONICAL_v1.0  ·  8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1369</Words>
  <Application>Microsoft Macintosh PowerPoint</Application>
  <PresentationFormat>Custom</PresentationFormat>
  <Paragraphs>237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Courier New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Alaa Atia</cp:lastModifiedBy>
  <cp:revision>1</cp:revision>
  <dcterms:created xsi:type="dcterms:W3CDTF">2013-01-27T09:14:16Z</dcterms:created>
  <dcterms:modified xsi:type="dcterms:W3CDTF">2026-03-11T23:47:31Z</dcterms:modified>
  <cp:category/>
</cp:coreProperties>
</file>