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30" Type="http://schemas.openxmlformats.org/officeDocument/2006/relationships/viewProps" Target="viewProps.xml" /><Relationship Id="rId29" Type="http://schemas.openxmlformats.org/officeDocument/2006/relationships/presProps" Target="presProps.xml" /><Relationship Id="rId1" Type="http://schemas.openxmlformats.org/officeDocument/2006/relationships/slideMaster" Target="slideMasters/slideMaster1.xml" /><Relationship Id="rId32" Type="http://schemas.openxmlformats.org/officeDocument/2006/relationships/tableStyles" Target="tableStyles.xml" /><Relationship Id="rId3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Project AI Manifest - BPB Governance Architecture Reveal</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Alaa Atia / BPB Solutions LTD</a:t>
            </a:r>
          </a:p>
        </p:txBody>
      </p:sp>
      <p:sp>
        <p:nvSpPr>
          <p:cNvPr id="4" name="Date Placeholder 3"/>
          <p:cNvSpPr>
            <a:spLocks noGrp="1"/>
          </p:cNvSpPr>
          <p:nvPr>
            <p:ph idx="10" sz="half" type="dt"/>
          </p:nvPr>
        </p:nvSpPr>
        <p:spPr/>
        <p:txBody>
          <a:bodyPr/>
          <a:lstStyle/>
          <a:p>
            <a:pPr lvl="0" indent="0" marL="0">
              <a:buNone/>
            </a:pPr>
            <a:r>
              <a:rPr/>
              <a:t>12 March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Cover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architecture as an execution control system</a:t>
            </a:r>
          </a:p>
        </p:txBody>
      </p:sp>
      <p:sp>
        <p:nvSpPr>
          <p:cNvPr id="3" name="Content Placeholder 2"/>
          <p:cNvSpPr>
            <a:spLocks noGrp="1"/>
          </p:cNvSpPr>
          <p:nvPr>
            <p:ph idx="1"/>
          </p:nvPr>
        </p:nvSpPr>
        <p:spPr/>
        <p:txBody>
          <a:bodyPr/>
          <a:lstStyle/>
          <a:p>
            <a:pPr lvl="0" indent="0" marL="0">
              <a:buNone/>
            </a:pPr>
            <a:r>
              <a:rPr/>
              <a:t>A rebuilt standalone report describing the BPB governance model as a layered authority system:</a:t>
            </a:r>
          </a:p>
          <a:p>
            <a:pPr lvl="0"/>
            <a:r>
              <a:rPr/>
              <a:t>Strategic authority at the apex</a:t>
            </a:r>
          </a:p>
          <a:p>
            <a:pPr lvl="0"/>
            <a:r>
              <a:rPr/>
              <a:t>Validation and resistance in the middle</a:t>
            </a:r>
          </a:p>
          <a:p>
            <a:pPr lvl="0"/>
            <a:r>
              <a:rPr/>
              <a:t>Controlled AI execution at the operational layer</a:t>
            </a:r>
          </a:p>
          <a:p>
            <a:pPr lvl="0" indent="0" marL="0">
              <a:buNone/>
            </a:pPr>
            <a:r>
              <a:rPr/>
              <a:t>Key metadata:</a:t>
            </a:r>
          </a:p>
          <a:p>
            <a:pPr lvl="0"/>
            <a:r>
              <a:rPr/>
              <a:t>Authority operator: AA (Alaa Atia)</a:t>
            </a:r>
          </a:p>
          <a:p>
            <a:pPr lvl="0"/>
            <a:r>
              <a:rPr/>
              <a:t>Architecture model: Three-Layer Gate</a:t>
            </a:r>
          </a:p>
          <a:p>
            <a:pPr lvl="0"/>
            <a:r>
              <a:rPr/>
              <a:t>Paradigm: Event-Sourced</a:t>
            </a:r>
          </a:p>
          <a:p>
            <a:pPr lvl="0"/>
            <a:r>
              <a:rPr/>
              <a:t>Audit trail: Immutable</a:t>
            </a:r>
          </a:p>
          <a:p>
            <a:pPr lvl="0"/>
            <a:r>
              <a:rPr/>
              <a:t>Publication mode: Official Partner Publication / Version 1.0</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Executive Summary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Regulator-safe governance with irreversible decision trails</a:t>
            </a:r>
          </a:p>
        </p:txBody>
      </p:sp>
      <p:sp>
        <p:nvSpPr>
          <p:cNvPr id="3" name="Content Placeholder 2"/>
          <p:cNvSpPr>
            <a:spLocks noGrp="1"/>
          </p:cNvSpPr>
          <p:nvPr>
            <p:ph idx="1"/>
          </p:nvPr>
        </p:nvSpPr>
        <p:spPr/>
        <p:txBody>
          <a:bodyPr/>
          <a:lstStyle/>
          <a:p>
            <a:pPr lvl="0" indent="0" marL="0">
              <a:buNone/>
            </a:pPr>
            <a:r>
              <a:rPr/>
              <a:t>The BPB model positions governance as a control plane rather than a compliance wrapper. Authority is explicit, validation is structurally separated, and execution is recorded into an immutable evidence path.</a:t>
            </a:r>
          </a:p>
          <a:p>
            <a:pPr lvl="0" indent="0" marL="0">
              <a:spcBef>
                <a:spcPts val="3000"/>
              </a:spcBef>
              <a:buNone/>
            </a:pPr>
            <a:r>
              <a:rPr b="1"/>
              <a:t>Core points</a:t>
            </a:r>
          </a:p>
          <a:p>
            <a:pPr lvl="0"/>
            <a:r>
              <a:rPr/>
              <a:t>Authority model: AA acts as strategic apex authority. YAI acts as the validation and resistance layer. AI executes only within controlled bounds.</a:t>
            </a:r>
          </a:p>
          <a:p>
            <a:pPr lvl="0"/>
            <a:r>
              <a:rPr/>
              <a:t>Architecture paradigm: Event-sourced, schema-driven, append-only governance with audit-ready records and explicit responsibility boundaries.</a:t>
            </a:r>
          </a:p>
          <a:p>
            <a:pPr lvl="0"/>
            <a:r>
              <a:rPr/>
              <a:t>Institutional positioning: the model is aimed at high-accountability environments where authority provenance matters as much as the final action.</a:t>
            </a:r>
          </a:p>
          <a:p>
            <a:pPr lvl="0"/>
            <a:r>
              <a:rPr/>
              <a:t>Primary value: it transforms ambiguous automation into traceable, reviewable, regulator-defensible execution.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Architecture Overview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BPB governance ecosystem</a:t>
            </a:r>
          </a:p>
        </p:txBody>
      </p:sp>
      <p:sp>
        <p:nvSpPr>
          <p:cNvPr id="3" name="Content Placeholder 2"/>
          <p:cNvSpPr>
            <a:spLocks noGrp="1"/>
          </p:cNvSpPr>
          <p:nvPr>
            <p:ph idx="1"/>
          </p:nvPr>
        </p:nvSpPr>
        <p:spPr/>
        <p:txBody>
          <a:bodyPr/>
          <a:lstStyle/>
          <a:p>
            <a:pPr lvl="0" indent="0">
              <a:buNone/>
            </a:pPr>
            <a:r>
              <a:rPr>
                <a:latin typeface="Courier"/>
              </a:rPr>
              <a:t>+-----------------------------------------------------------------------+
|                    BPB SOLUTIONS GOVERNANCE ECOSYSTEM                 |
|                     Multi-brand operational architecture              |
+-----------------------------------------------------------------------+
                                |
                                v
+-----------------------------------------------------------------------+
| LAYER 1: AUTHORITY                                                    |
| AA Investitionen und Beratung / BPB strategic authority               |
| Declares intent | accepts risk | authorizes consequence               |
+-----------------------------------------------------------------------+
                                |
                                v
+-----------------------------------------------------------------------+
| LAYER 2: YAI                                                          |
| Validation | resistance | contradiction | STOP potential              |
| Tests decisions before execution is allowed to proceed                |
+-----------------------------------------------------------------------+
                                |
                                v
+-----------------------------------------------------------------------+
| LAYER 3: AI                                                           |
| Resolution | execution | structured output                            |
| Performs bounded execution after authority and validation resolve     |
+-----------------------------------------------------------------------+</a:t>
            </a:r>
          </a:p>
          <a:p>
            <a:pPr lvl="0" indent="0" marL="0">
              <a:buNone/>
            </a:pPr>
            <a:r>
              <a:rPr/>
              <a:t>Interpretation: the architecture does not remove human authority. It formalizes where authority ends, where resistance happens, and where execution becomes permitted.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Three-Layer Authority Model</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Authority, resistance, execution</a:t>
            </a:r>
          </a:p>
        </p:txBody>
      </p:sp>
      <p:sp>
        <p:nvSpPr>
          <p:cNvPr id="3" name="Content Placeholder 2"/>
          <p:cNvSpPr>
            <a:spLocks noGrp="1"/>
          </p:cNvSpPr>
          <p:nvPr>
            <p:ph idx="1"/>
          </p:nvPr>
        </p:nvSpPr>
        <p:spPr/>
        <p:txBody>
          <a:bodyPr/>
          <a:lstStyle/>
          <a:p>
            <a:pPr lvl="0" indent="0" marL="0">
              <a:spcBef>
                <a:spcPts val="3000"/>
              </a:spcBef>
              <a:buNone/>
            </a:pPr>
            <a:r>
              <a:rPr b="1"/>
              <a:t>Layer 1: AA</a:t>
            </a:r>
          </a:p>
          <a:p>
            <a:pPr lvl="0"/>
            <a:r>
              <a:rPr/>
              <a:t>Owns strategic intent</a:t>
            </a:r>
          </a:p>
          <a:p>
            <a:pPr lvl="0"/>
            <a:r>
              <a:rPr/>
              <a:t>Approves consequences and risk acceptance</a:t>
            </a:r>
          </a:p>
          <a:p>
            <a:pPr lvl="0"/>
            <a:r>
              <a:rPr/>
              <a:t>Cannot be replaced by automated role logic</a:t>
            </a:r>
          </a:p>
          <a:p>
            <a:pPr lvl="0" indent="0" marL="0">
              <a:spcBef>
                <a:spcPts val="3000"/>
              </a:spcBef>
              <a:buNone/>
            </a:pPr>
            <a:r>
              <a:rPr b="1"/>
              <a:t>Layer 2: YAI</a:t>
            </a:r>
          </a:p>
          <a:p>
            <a:pPr lvl="0"/>
            <a:r>
              <a:rPr/>
              <a:t>Introduces non-trivial review pressure</a:t>
            </a:r>
          </a:p>
          <a:p>
            <a:pPr lvl="0"/>
            <a:r>
              <a:rPr/>
              <a:t>Creates trust through explicit resistance</a:t>
            </a:r>
          </a:p>
          <a:p>
            <a:pPr lvl="0"/>
            <a:r>
              <a:rPr/>
              <a:t>Can halt low-confidence or policy-breaking flows</a:t>
            </a:r>
          </a:p>
          <a:p>
            <a:pPr lvl="0" indent="0" marL="0">
              <a:spcBef>
                <a:spcPts val="3000"/>
              </a:spcBef>
              <a:buNone/>
            </a:pPr>
            <a:r>
              <a:rPr b="1"/>
              <a:t>Layer 3: AI</a:t>
            </a:r>
          </a:p>
          <a:p>
            <a:pPr lvl="0"/>
            <a:r>
              <a:rPr/>
              <a:t>Produces output after authority and validation resolve</a:t>
            </a:r>
          </a:p>
          <a:p>
            <a:pPr lvl="0"/>
            <a:r>
              <a:rPr/>
              <a:t>Executes within bounded rules</a:t>
            </a:r>
          </a:p>
          <a:p>
            <a:pPr lvl="0"/>
            <a:r>
              <a:rPr/>
              <a:t>Should not be self-authorizing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Core Governance Systems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Named systems inside the architecture</a:t>
            </a:r>
          </a:p>
        </p:txBody>
      </p:sp>
      <p:sp>
        <p:nvSpPr>
          <p:cNvPr id="3" name="Content Placeholder 2"/>
          <p:cNvSpPr>
            <a:spLocks noGrp="1"/>
          </p:cNvSpPr>
          <p:nvPr>
            <p:ph idx="1"/>
          </p:nvPr>
        </p:nvSpPr>
        <p:spPr/>
        <p:txBody>
          <a:bodyPr/>
          <a:lstStyle/>
          <a:p>
            <a:pPr lvl="0" indent="0" marL="0">
              <a:spcBef>
                <a:spcPts val="3000"/>
              </a:spcBef>
              <a:buNone/>
            </a:pPr>
            <a:r>
              <a:rPr b="1"/>
              <a:t>PMS_GOVERN</a:t>
            </a:r>
          </a:p>
          <a:p>
            <a:pPr lvl="0" indent="0" marL="0">
              <a:buNone/>
            </a:pPr>
            <a:r>
              <a:rPr/>
              <a:t>Execution governance engine enforcing authority thresholds, command structure, and evidence generation.</a:t>
            </a:r>
          </a:p>
          <a:p>
            <a:pPr lvl="0" indent="0" marL="0">
              <a:spcBef>
                <a:spcPts val="3000"/>
              </a:spcBef>
              <a:buNone/>
            </a:pPr>
            <a:r>
              <a:rPr b="1"/>
              <a:t>QGED</a:t>
            </a:r>
          </a:p>
          <a:p>
            <a:pPr lvl="0" indent="0" marL="0">
              <a:buNone/>
            </a:pPr>
            <a:r>
              <a:rPr/>
              <a:t>Authority gate controlling whether execution is allowed, blocked, held, or escalated.</a:t>
            </a:r>
          </a:p>
          <a:p>
            <a:pPr lvl="0" indent="0" marL="0">
              <a:spcBef>
                <a:spcPts val="3000"/>
              </a:spcBef>
              <a:buNone/>
            </a:pPr>
            <a:r>
              <a:rPr b="1"/>
              <a:t>Immutable Ledger</a:t>
            </a:r>
          </a:p>
          <a:p>
            <a:pPr lvl="0" indent="0" marL="0">
              <a:buNone/>
            </a:pPr>
            <a:r>
              <a:rPr/>
              <a:t>Append-only chain that preserves authorization sequence, timestamps, and integrity references.</a:t>
            </a:r>
          </a:p>
          <a:p>
            <a:pPr lvl="0" indent="0" marL="0">
              <a:spcBef>
                <a:spcPts val="3000"/>
              </a:spcBef>
              <a:buNone/>
            </a:pPr>
            <a:r>
              <a:rPr b="1"/>
              <a:t>AI Manifest</a:t>
            </a:r>
          </a:p>
          <a:p>
            <a:pPr lvl="0" indent="0" marL="0">
              <a:buNone/>
            </a:pPr>
            <a:r>
              <a:rPr/>
              <a:t>Defines the behavioral contract of the AI layer so execution remains bound to documented system intent.</a:t>
            </a:r>
          </a:p>
          <a:p>
            <a:pPr lvl="0" indent="0" marL="0">
              <a:spcBef>
                <a:spcPts val="3000"/>
              </a:spcBef>
              <a:buNone/>
            </a:pPr>
            <a:r>
              <a:rPr b="1"/>
              <a:t>Domain State</a:t>
            </a:r>
          </a:p>
          <a:p>
            <a:pPr lvl="0" indent="0" marL="0">
              <a:buNone/>
            </a:pPr>
            <a:r>
              <a:rPr/>
              <a:t>Separates operational state from doctrinal state, reducing authority leakage across domains.</a:t>
            </a:r>
          </a:p>
          <a:p>
            <a:pPr lvl="0" indent="0" marL="0">
              <a:spcBef>
                <a:spcPts val="3000"/>
              </a:spcBef>
              <a:buNone/>
            </a:pPr>
            <a:r>
              <a:rPr b="1"/>
              <a:t>Audit Records</a:t>
            </a:r>
          </a:p>
          <a:p>
            <a:pPr lvl="0" indent="0" marL="0">
              <a:buNone/>
            </a:pPr>
            <a:r>
              <a:rPr/>
              <a:t>Institutional memory surface for proving why a decision happened and under what authority path.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Manifest Integration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the AI layer stays governable</a:t>
            </a:r>
          </a:p>
        </p:txBody>
      </p:sp>
      <p:sp>
        <p:nvSpPr>
          <p:cNvPr id="3" name="Content Placeholder 2"/>
          <p:cNvSpPr>
            <a:spLocks noGrp="1"/>
          </p:cNvSpPr>
          <p:nvPr>
            <p:ph idx="1"/>
          </p:nvPr>
        </p:nvSpPr>
        <p:spPr/>
        <p:txBody>
          <a:bodyPr/>
          <a:lstStyle/>
          <a:p>
            <a:pPr lvl="0" indent="0" marL="0">
              <a:buNone/>
            </a:pPr>
            <a:r>
              <a:rPr/>
              <a:t>The AI Manifest is not decoration. It is the formal description of how the AI layer should behave when operating beneath human authority and mediated validation.</a:t>
            </a:r>
          </a:p>
          <a:p>
            <a:pPr lvl="0" indent="0" marL="0">
              <a:spcBef>
                <a:spcPts val="3000"/>
              </a:spcBef>
              <a:buNone/>
            </a:pPr>
            <a:r>
              <a:rPr b="1"/>
              <a:t>Behavioral constraint</a:t>
            </a:r>
          </a:p>
          <a:p>
            <a:pPr lvl="0"/>
            <a:r>
              <a:rPr/>
              <a:t>AI is not sovereign</a:t>
            </a:r>
          </a:p>
          <a:p>
            <a:pPr lvl="0"/>
            <a:r>
              <a:rPr/>
              <a:t>Execution is subordinate to validated authority</a:t>
            </a:r>
          </a:p>
          <a:p>
            <a:pPr lvl="0"/>
            <a:r>
              <a:rPr/>
              <a:t>Commands should be explicit and reviewable</a:t>
            </a:r>
          </a:p>
          <a:p>
            <a:pPr lvl="0" indent="0" marL="0">
              <a:spcBef>
                <a:spcPts val="3000"/>
              </a:spcBef>
              <a:buNone/>
            </a:pPr>
            <a:r>
              <a:rPr b="1"/>
              <a:t>Governance implication</a:t>
            </a:r>
          </a:p>
          <a:p>
            <a:pPr lvl="0"/>
            <a:r>
              <a:rPr/>
              <a:t>AI proposals can be useful without being self-authorizing</a:t>
            </a:r>
          </a:p>
          <a:p>
            <a:pPr lvl="0"/>
            <a:r>
              <a:rPr/>
              <a:t>Policy and authority remain external to AI generation</a:t>
            </a:r>
          </a:p>
          <a:p>
            <a:pPr lvl="0"/>
            <a:r>
              <a:rPr/>
              <a:t>Safety comes from structure, not prompt language alone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Cross-Layer Coordination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the layers resolve together</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Stage</a:t>
                      </a:r>
                    </a:p>
                  </a:txBody>
                  <a:tcPr/>
                </a:tc>
                <a:tc>
                  <a:txBody>
                    <a:bodyPr/>
                    <a:lstStyle/>
                    <a:p>
                      <a:pPr lvl="0" indent="0" marL="0">
                        <a:buNone/>
                      </a:pPr>
                      <a:r>
                        <a:rPr/>
                        <a:t>Owner</a:t>
                      </a:r>
                    </a:p>
                  </a:txBody>
                  <a:tcPr/>
                </a:tc>
                <a:tc>
                  <a:txBody>
                    <a:bodyPr/>
                    <a:lstStyle/>
                    <a:p>
                      <a:pPr lvl="0" indent="0" marL="0">
                        <a:buNone/>
                      </a:pPr>
                      <a:r>
                        <a:rPr/>
                        <a:t>Function</a:t>
                      </a:r>
                    </a:p>
                  </a:txBody>
                  <a:tcPr/>
                </a:tc>
                <a:tc>
                  <a:txBody>
                    <a:bodyPr/>
                    <a:lstStyle/>
                    <a:p>
                      <a:pPr lvl="0" indent="0" marL="0">
                        <a:buNone/>
                      </a:pPr>
                      <a:r>
                        <a:rPr/>
                        <a:t>Failure mode prevented</a:t>
                      </a:r>
                    </a:p>
                  </a:txBody>
                  <a:tcPr/>
                </a:tc>
              </a:tr>
              <a:tr h="0">
                <a:tc>
                  <a:txBody>
                    <a:bodyPr/>
                    <a:lstStyle/>
                    <a:p>
                      <a:pPr lvl="0" indent="0" marL="0">
                        <a:buNone/>
                      </a:pPr>
                      <a:r>
                        <a:rPr/>
                        <a:t>Intent declaration</a:t>
                      </a:r>
                    </a:p>
                  </a:txBody>
                </a:tc>
                <a:tc>
                  <a:txBody>
                    <a:bodyPr/>
                    <a:lstStyle/>
                    <a:p>
                      <a:pPr lvl="0" indent="0" marL="0">
                        <a:buNone/>
                      </a:pPr>
                      <a:r>
                        <a:rPr/>
                        <a:t>AA</a:t>
                      </a:r>
                    </a:p>
                  </a:txBody>
                </a:tc>
                <a:tc>
                  <a:txBody>
                    <a:bodyPr/>
                    <a:lstStyle/>
                    <a:p>
                      <a:pPr lvl="0" indent="0" marL="0">
                        <a:buNone/>
                      </a:pPr>
                      <a:r>
                        <a:rPr/>
                        <a:t>Sets purpose and accepts consequences</a:t>
                      </a:r>
                    </a:p>
                  </a:txBody>
                </a:tc>
                <a:tc>
                  <a:txBody>
                    <a:bodyPr/>
                    <a:lstStyle/>
                    <a:p>
                      <a:pPr lvl="0" indent="0" marL="0">
                        <a:buNone/>
                      </a:pPr>
                      <a:r>
                        <a:rPr/>
                        <a:t>Anonymous or accidental authority</a:t>
                      </a:r>
                    </a:p>
                  </a:txBody>
                </a:tc>
              </a:tr>
              <a:tr h="0">
                <a:tc>
                  <a:txBody>
                    <a:bodyPr/>
                    <a:lstStyle/>
                    <a:p>
                      <a:pPr lvl="0" indent="0" marL="0">
                        <a:buNone/>
                      </a:pPr>
                      <a:r>
                        <a:rPr/>
                        <a:t>Validation and resistance</a:t>
                      </a:r>
                    </a:p>
                  </a:txBody>
                </a:tc>
                <a:tc>
                  <a:txBody>
                    <a:bodyPr/>
                    <a:lstStyle/>
                    <a:p>
                      <a:pPr lvl="0" indent="0" marL="0">
                        <a:buNone/>
                      </a:pPr>
                      <a:r>
                        <a:rPr/>
                        <a:t>YAI</a:t>
                      </a:r>
                    </a:p>
                  </a:txBody>
                </a:tc>
                <a:tc>
                  <a:txBody>
                    <a:bodyPr/>
                    <a:lstStyle/>
                    <a:p>
                      <a:pPr lvl="0" indent="0" marL="0">
                        <a:buNone/>
                      </a:pPr>
                      <a:r>
                        <a:rPr/>
                        <a:t>Challenges logic, checks coherence, can stop flow</a:t>
                      </a:r>
                    </a:p>
                  </a:txBody>
                </a:tc>
                <a:tc>
                  <a:txBody>
                    <a:bodyPr/>
                    <a:lstStyle/>
                    <a:p>
                      <a:pPr lvl="0" indent="0" marL="0">
                        <a:buNone/>
                      </a:pPr>
                      <a:r>
                        <a:rPr/>
                        <a:t>Unchecked automated momentum</a:t>
                      </a:r>
                    </a:p>
                  </a:txBody>
                </a:tc>
              </a:tr>
              <a:tr h="0">
                <a:tc>
                  <a:txBody>
                    <a:bodyPr/>
                    <a:lstStyle/>
                    <a:p>
                      <a:pPr lvl="0" indent="0" marL="0">
                        <a:buNone/>
                      </a:pPr>
                      <a:r>
                        <a:rPr/>
                        <a:t>Execution</a:t>
                      </a:r>
                    </a:p>
                  </a:txBody>
                </a:tc>
                <a:tc>
                  <a:txBody>
                    <a:bodyPr/>
                    <a:lstStyle/>
                    <a:p>
                      <a:pPr lvl="0" indent="0" marL="0">
                        <a:buNone/>
                      </a:pPr>
                      <a:r>
                        <a:rPr/>
                        <a:t>AI</a:t>
                      </a:r>
                    </a:p>
                  </a:txBody>
                </a:tc>
                <a:tc>
                  <a:txBody>
                    <a:bodyPr/>
                    <a:lstStyle/>
                    <a:p>
                      <a:pPr lvl="0" indent="0" marL="0">
                        <a:buNone/>
                      </a:pPr>
                      <a:r>
                        <a:rPr/>
                        <a:t>Produces output under bounded authority</a:t>
                      </a:r>
                    </a:p>
                  </a:txBody>
                </a:tc>
                <a:tc>
                  <a:txBody>
                    <a:bodyPr/>
                    <a:lstStyle/>
                    <a:p>
                      <a:pPr lvl="0" indent="0" marL="0">
                        <a:buNone/>
                      </a:pPr>
                      <a:r>
                        <a:rPr/>
                        <a:t>Unowned autonomous action</a:t>
                      </a:r>
                    </a:p>
                  </a:txBody>
                </a:tc>
              </a:tr>
              <a:tr h="0">
                <a:tc>
                  <a:txBody>
                    <a:bodyPr/>
                    <a:lstStyle/>
                    <a:p>
                      <a:pPr lvl="0" indent="0" marL="0">
                        <a:buNone/>
                      </a:pPr>
                      <a:r>
                        <a:rPr/>
                        <a:t>Evidence capture</a:t>
                      </a:r>
                    </a:p>
                  </a:txBody>
                </a:tc>
                <a:tc>
                  <a:txBody>
                    <a:bodyPr/>
                    <a:lstStyle/>
                    <a:p>
                      <a:pPr lvl="0" indent="0" marL="0">
                        <a:buNone/>
                      </a:pPr>
                      <a:r>
                        <a:rPr/>
                        <a:t>Ledger / audit system</a:t>
                      </a:r>
                    </a:p>
                  </a:txBody>
                </a:tc>
                <a:tc>
                  <a:txBody>
                    <a:bodyPr/>
                    <a:lstStyle/>
                    <a:p>
                      <a:pPr lvl="0" indent="0" marL="0">
                        <a:buNone/>
                      </a:pPr>
                      <a:r>
                        <a:rPr/>
                        <a:t>Persists the decision path</a:t>
                      </a:r>
                    </a:p>
                  </a:txBody>
                </a:tc>
                <a:tc>
                  <a:txBody>
                    <a:bodyPr/>
                    <a:lstStyle/>
                    <a:p>
                      <a:pPr lvl="0" indent="0" marL="0">
                        <a:buNone/>
                      </a:pPr>
                      <a:r>
                        <a:rPr/>
                        <a:t>Post-hoc ambiguity</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Technical Implementation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 implementation posture</a:t>
            </a:r>
          </a:p>
        </p:txBody>
      </p:sp>
      <p:sp>
        <p:nvSpPr>
          <p:cNvPr id="3" name="Content Placeholder 2"/>
          <p:cNvSpPr>
            <a:spLocks noGrp="1"/>
          </p:cNvSpPr>
          <p:nvPr>
            <p:ph idx="1"/>
          </p:nvPr>
        </p:nvSpPr>
        <p:spPr/>
        <p:txBody>
          <a:bodyPr/>
          <a:lstStyle/>
          <a:p>
            <a:pPr lvl="0" indent="0" marL="0">
              <a:spcBef>
                <a:spcPts val="3000"/>
              </a:spcBef>
              <a:buNone/>
            </a:pPr>
            <a:r>
              <a:rPr b="1"/>
              <a:t>Event-Sourced State</a:t>
            </a:r>
          </a:p>
          <a:p>
            <a:pPr lvl="0" indent="0" marL="0">
              <a:buNone/>
            </a:pPr>
            <a:r>
              <a:rPr/>
              <a:t>System changes should be represented as explicit events, allowing reconstruction and audit of prior states.</a:t>
            </a:r>
          </a:p>
          <a:p>
            <a:pPr lvl="0" indent="0" marL="0">
              <a:spcBef>
                <a:spcPts val="3000"/>
              </a:spcBef>
              <a:buNone/>
            </a:pPr>
            <a:r>
              <a:rPr b="1"/>
              <a:t>Schema-Driven Commands</a:t>
            </a:r>
          </a:p>
          <a:p>
            <a:pPr lvl="0" indent="0" marL="0">
              <a:buNone/>
            </a:pPr>
            <a:r>
              <a:rPr/>
              <a:t>Commands should be typed, attributable, and bounded by policy and manifest constraints.</a:t>
            </a:r>
          </a:p>
          <a:p>
            <a:pPr lvl="0" indent="0" marL="0">
              <a:spcBef>
                <a:spcPts val="3000"/>
              </a:spcBef>
              <a:buNone/>
            </a:pPr>
            <a:r>
              <a:rPr b="1"/>
              <a:t>Hash-Chained Records</a:t>
            </a:r>
          </a:p>
          <a:p>
            <a:pPr lvl="0" indent="0" marL="0">
              <a:buNone/>
            </a:pPr>
            <a:r>
              <a:rPr/>
              <a:t>Ledger entries should carry reference continuity so tampering becomes immediately visible.</a:t>
            </a:r>
          </a:p>
          <a:p>
            <a:pPr lvl="0" indent="0" marL="0">
              <a:spcBef>
                <a:spcPts val="3000"/>
              </a:spcBef>
              <a:buNone/>
            </a:pPr>
            <a:r>
              <a:rPr b="1"/>
              <a:t>Freeze Capability</a:t>
            </a:r>
          </a:p>
          <a:p>
            <a:pPr lvl="0" indent="0" marL="0">
              <a:buNone/>
            </a:pPr>
            <a:r>
              <a:rPr/>
              <a:t>The platform should support explicit freeze states in which no further execution occurs without a later unfreeze action.</a:t>
            </a:r>
          </a:p>
          <a:p>
            <a:pPr lvl="0" indent="0" marL="0">
              <a:buNone/>
            </a:pPr>
            <a:r>
              <a:rPr/>
              <a:t>Practical note: the technical architecture only becomes credible when the runtime, ledger, and manifest all agree on state.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Regulatory Readiness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matters in regulated or high-risk domains</a:t>
            </a:r>
          </a:p>
        </p:txBody>
      </p:sp>
      <p:sp>
        <p:nvSpPr>
          <p:cNvPr id="3" name="Content Placeholder 2"/>
          <p:cNvSpPr>
            <a:spLocks noGrp="1"/>
          </p:cNvSpPr>
          <p:nvPr>
            <p:ph idx="1"/>
          </p:nvPr>
        </p:nvSpPr>
        <p:spPr/>
        <p:txBody>
          <a:bodyPr/>
          <a:lstStyle/>
          <a:p>
            <a:pPr lvl="0" indent="0" marL="0">
              <a:spcBef>
                <a:spcPts val="3000"/>
              </a:spcBef>
              <a:buNone/>
            </a:pPr>
            <a:r>
              <a:rPr b="1"/>
              <a:t>Traceability</a:t>
            </a:r>
          </a:p>
          <a:p>
            <a:pPr lvl="0" indent="0" marL="0">
              <a:buNone/>
            </a:pPr>
            <a:r>
              <a:rPr/>
              <a:t>Every material decision should be attributable to a responsible authority path.</a:t>
            </a:r>
          </a:p>
          <a:p>
            <a:pPr lvl="0" indent="0" marL="0">
              <a:spcBef>
                <a:spcPts val="3000"/>
              </a:spcBef>
              <a:buNone/>
            </a:pPr>
            <a:r>
              <a:rPr b="1"/>
              <a:t>Non-repudiation</a:t>
            </a:r>
          </a:p>
          <a:p>
            <a:pPr lvl="0" indent="0" marL="0">
              <a:buNone/>
            </a:pPr>
            <a:r>
              <a:rPr/>
              <a:t>Immutable records reduce disputes about who approved, who challenged, and what was executed.</a:t>
            </a:r>
          </a:p>
          <a:p>
            <a:pPr lvl="0" indent="0" marL="0">
              <a:spcBef>
                <a:spcPts val="3000"/>
              </a:spcBef>
              <a:buNone/>
            </a:pPr>
            <a:r>
              <a:rPr b="1"/>
              <a:t>Human Accountability</a:t>
            </a:r>
          </a:p>
          <a:p>
            <a:pPr lvl="0" indent="0" marL="0">
              <a:buNone/>
            </a:pPr>
            <a:r>
              <a:rPr/>
              <a:t>The human apex remains visible instead of being hidden behind automation language.</a:t>
            </a:r>
          </a:p>
          <a:p>
            <a:pPr lvl="0" indent="0" marL="0">
              <a:buNone/>
            </a:pPr>
            <a:r>
              <a:rPr/>
              <a:t>This model fits environments where policy is insufficient by itself, including finance, trade, logistics, and other domains where the decision path matters as much as the decision.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System Strengths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already strong</a:t>
            </a:r>
          </a:p>
        </p:txBody>
      </p:sp>
      <p:sp>
        <p:nvSpPr>
          <p:cNvPr id="3" name="Content Placeholder 2"/>
          <p:cNvSpPr>
            <a:spLocks noGrp="1"/>
          </p:cNvSpPr>
          <p:nvPr>
            <p:ph idx="1"/>
          </p:nvPr>
        </p:nvSpPr>
        <p:spPr/>
        <p:txBody>
          <a:bodyPr/>
          <a:lstStyle/>
          <a:p>
            <a:pPr lvl="0"/>
            <a:r>
              <a:rPr/>
              <a:t>Clear apex authority: responsibility is not diffused into vague automation claims</a:t>
            </a:r>
          </a:p>
          <a:p>
            <a:pPr lvl="0"/>
            <a:r>
              <a:rPr/>
              <a:t>Designed resistance layer: validation exists as structure, not afterthought review</a:t>
            </a:r>
          </a:p>
          <a:p>
            <a:pPr lvl="0"/>
            <a:r>
              <a:rPr/>
              <a:t>Execution bounded by design: the AI layer is constrained by architecture and documented behavior</a:t>
            </a:r>
          </a:p>
          <a:p>
            <a:pPr lvl="0"/>
            <a:r>
              <a:rPr/>
              <a:t>Evidence-oriented posture: audit trail and ledger logic support institutional memory</a:t>
            </a:r>
          </a:p>
          <a:p>
            <a:pPr lvl="0"/>
            <a:r>
              <a:rPr/>
              <a:t>Cross-brand applicability: the model can govern multiple operating surfaces without collapsing authority definitions</a:t>
            </a:r>
          </a:p>
          <a:p>
            <a:pPr lvl="0"/>
            <a:r>
              <a:rPr/>
              <a:t>Good narrative coherence: doctrine, system model, and control claims align well conceptually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Areas for Enhancement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the architecture should be strengthened next</a:t>
            </a:r>
          </a:p>
        </p:txBody>
      </p:sp>
      <p:sp>
        <p:nvSpPr>
          <p:cNvPr id="3" name="Content Placeholder 2"/>
          <p:cNvSpPr>
            <a:spLocks noGrp="1"/>
          </p:cNvSpPr>
          <p:nvPr>
            <p:ph idx="1"/>
          </p:nvPr>
        </p:nvSpPr>
        <p:spPr/>
        <p:txBody>
          <a:bodyPr/>
          <a:lstStyle/>
          <a:p>
            <a:pPr lvl="0"/>
            <a:r>
              <a:rPr/>
              <a:t>Formal escalation logic: codify how unresolved YAI resistance is escalated and resolved</a:t>
            </a:r>
          </a:p>
          <a:p>
            <a:pPr lvl="0"/>
            <a:r>
              <a:rPr/>
              <a:t>Machine-readable policy surfaces: increase the degree to which policies are enforceable by runtime rather than narrative interpretation</a:t>
            </a:r>
          </a:p>
          <a:p>
            <a:pPr lvl="0"/>
            <a:r>
              <a:rPr/>
              <a:t>Operational metrics: add measurable thresholds for latency, override frequency, rejection rate, and freeze invocation</a:t>
            </a:r>
          </a:p>
          <a:p>
            <a:pPr lvl="0"/>
            <a:r>
              <a:rPr/>
              <a:t>External evidence packaging: prepare regulator-facing export bundles that combine authority, validation, and ledger evidence</a:t>
            </a:r>
          </a:p>
          <a:p>
            <a:pPr lvl="0" indent="0" marL="0">
              <a:buNone/>
            </a:pPr>
            <a:r>
              <a:rPr/>
              <a:t>Most important next step: define the precise runtime rules that transition the system among operational, audit, and freeze states.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Risk Assessment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Primary architectural risks</a:t>
            </a:r>
          </a:p>
        </p:txBody>
      </p:sp>
      <p:sp>
        <p:nvSpPr>
          <p:cNvPr id="3" name="Content Placeholder 2"/>
          <p:cNvSpPr>
            <a:spLocks noGrp="1"/>
          </p:cNvSpPr>
          <p:nvPr>
            <p:ph idx="1"/>
          </p:nvPr>
        </p:nvSpPr>
        <p:spPr/>
        <p:txBody>
          <a:bodyPr/>
          <a:lstStyle/>
          <a:p>
            <a:pPr lvl="0"/>
            <a:r>
              <a:rPr/>
              <a:t>Concentration risk: if too much authority remains coupled to a single apex operator, scaling and delegation become fragile</a:t>
            </a:r>
          </a:p>
          <a:p>
            <a:pPr lvl="0"/>
            <a:r>
              <a:rPr/>
              <a:t>Validation ambiguity: if YAI resistance rules are not formalized, contradiction can become subjective instead of institutional</a:t>
            </a:r>
          </a:p>
          <a:p>
            <a:pPr lvl="0"/>
            <a:r>
              <a:rPr/>
              <a:t>Evidence divergence: if runtime state, ledger, and manifest drift apart, governance claims become symbolic rather than real</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Conclusion and Recommendations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becomes real when execution has a boundary</a:t>
            </a:r>
          </a:p>
        </p:txBody>
      </p:sp>
      <p:sp>
        <p:nvSpPr>
          <p:cNvPr id="3" name="Content Placeholder 2"/>
          <p:cNvSpPr>
            <a:spLocks noGrp="1"/>
          </p:cNvSpPr>
          <p:nvPr>
            <p:ph idx="1"/>
          </p:nvPr>
        </p:nvSpPr>
        <p:spPr/>
        <p:txBody>
          <a:bodyPr/>
          <a:lstStyle/>
          <a:p>
            <a:pPr lvl="0" indent="0" marL="0">
              <a:buNone/>
            </a:pPr>
            <a:r>
              <a:rPr/>
              <a:t>The strongest idea in this architecture is not AI execution. It is the insistence that authority, resistance, execution, and evidence remain separable and verifiable. That is the basis for credible institutional control.</a:t>
            </a:r>
          </a:p>
          <a:p>
            <a:pPr lvl="0" indent="0" marL="0">
              <a:spcBef>
                <a:spcPts val="3000"/>
              </a:spcBef>
              <a:buNone/>
            </a:pPr>
            <a:r>
              <a:rPr b="1"/>
              <a:t>Recommendations</a:t>
            </a:r>
          </a:p>
          <a:p>
            <a:pPr lvl="0"/>
            <a:r>
              <a:rPr/>
              <a:t>Clarify escalation</a:t>
            </a:r>
          </a:p>
          <a:p>
            <a:pPr lvl="0"/>
            <a:r>
              <a:rPr/>
              <a:t>Formalize state transitions</a:t>
            </a:r>
          </a:p>
          <a:p>
            <a:pPr lvl="0"/>
            <a:r>
              <a:rPr/>
              <a:t>Preserve immutable evidence</a:t>
            </a:r>
          </a:p>
          <a:p>
            <a:pPr lvl="0"/>
            <a:r>
              <a:rPr/>
              <a:t>Avoid symbolic governance</a:t>
            </a:r>
          </a:p>
          <a:p>
            <a:pPr lvl="0" indent="0" marL="0">
              <a:buNone/>
            </a:pPr>
            <a:r>
              <a:rPr/>
              <a:t>BPB Solutions LTD / Project AI Manifest / Rebuilt standalone Reveal-style report / 12 March 2026</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AI Manifest - BPB Governance Architecture Reveal</dc:title>
  <dc:creator>Alaa Atia / BPB Solutions LTD</dc:creator>
  <cp:keywords/>
  <dcterms:created xsi:type="dcterms:W3CDTF">2026-03-20T07:54:37Z</dcterms:created>
  <dcterms:modified xsi:type="dcterms:W3CDTF">2026-03-20T07:54:37Z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lorlinks">
    <vt:lpwstr>True</vt:lpwstr>
  </property>
  <property fmtid="{D5CDD505-2E9C-101B-9397-08002B2CF9AE}" pid="3" name="date">
    <vt:lpwstr>12 March 2026</vt:lpwstr>
  </property>
  <property fmtid="{D5CDD505-2E9C-101B-9397-08002B2CF9AE}" pid="4" name="fontsize">
    <vt:lpwstr>11pt</vt:lpwstr>
  </property>
  <property fmtid="{D5CDD505-2E9C-101B-9397-08002B2CF9AE}" pid="5" name="geometry">
    <vt:lpwstr>margin=1in</vt:lpwstr>
  </property>
</Properties>
</file>